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ret Bold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Open Sans 1 Bold" charset="1" panose="020B0806030504020204"/>
      <p:regular r:id="rId21"/>
    </p:embeddedFont>
    <p:embeddedFont>
      <p:font typeface="Open Sans 1" charset="1" panose="020B0606030504020204"/>
      <p:regular r:id="rId22"/>
    </p:embeddedFont>
    <p:embeddedFont>
      <p:font typeface="Open Sans 2 Bold" charset="1" panose="00000000000000000000"/>
      <p:regular r:id="rId23"/>
    </p:embeddedFont>
    <p:embeddedFont>
      <p:font typeface="Open Sans 2" charset="1" panose="00000000000000000000"/>
      <p:regular r:id="rId24"/>
    </p:embeddedFont>
    <p:embeddedFont>
      <p:font typeface="Arimo Bold" charset="1" panose="020B0704020202020204"/>
      <p:regular r:id="rId25"/>
    </p:embeddedFont>
    <p:embeddedFont>
      <p:font typeface="Open Sans 1 Italic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322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583315"/>
            <a:ext cx="10838895" cy="134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5294"/>
              </a:lnSpc>
              <a:spcBef>
                <a:spcPct val="0"/>
              </a:spcBef>
            </a:pPr>
            <a:r>
              <a:rPr lang="en-US" b="true" sz="4726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Requirement Gathering for Smart Vehicle Diagnostic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3039142" cy="881440"/>
            <a:chOff x="0" y="0"/>
            <a:chExt cx="928909" cy="269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8909" cy="269411"/>
            </a:xfrm>
            <a:custGeom>
              <a:avLst/>
              <a:gdLst/>
              <a:ahLst/>
              <a:cxnLst/>
              <a:rect r="r" b="b" t="t" l="l"/>
              <a:pathLst>
                <a:path h="269411" w="928909">
                  <a:moveTo>
                    <a:pt x="0" y="0"/>
                  </a:moveTo>
                  <a:lnTo>
                    <a:pt x="928909" y="0"/>
                  </a:lnTo>
                  <a:lnTo>
                    <a:pt x="928909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28909" cy="307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57279" y="1505970"/>
            <a:ext cx="5365403" cy="536540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30196" t="0" r="-3137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182120"/>
            <a:ext cx="3039142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GROUP 17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8116571"/>
            <a:ext cx="7532157" cy="114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CEF440</a:t>
            </a:r>
          </a:p>
          <a:p>
            <a:pPr algn="l" marL="0" indent="0" lvl="0">
              <a:lnSpc>
                <a:spcPts val="4585"/>
              </a:lnSpc>
              <a:spcBef>
                <a:spcPct val="0"/>
              </a:spcBef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Instructor: Dr Nkemini Valery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4179" y="4778818"/>
            <a:ext cx="4848730" cy="3086100"/>
            <a:chOff x="0" y="0"/>
            <a:chExt cx="127703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7032" cy="812800"/>
            </a:xfrm>
            <a:custGeom>
              <a:avLst/>
              <a:gdLst/>
              <a:ahLst/>
              <a:cxnLst/>
              <a:rect r="r" b="b" t="t" l="l"/>
              <a:pathLst>
                <a:path h="812800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703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19635" y="4778818"/>
            <a:ext cx="4848730" cy="3086100"/>
            <a:chOff x="0" y="0"/>
            <a:chExt cx="127703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7032" cy="812800"/>
            </a:xfrm>
            <a:custGeom>
              <a:avLst/>
              <a:gdLst/>
              <a:ahLst/>
              <a:cxnLst/>
              <a:rect r="r" b="b" t="t" l="l"/>
              <a:pathLst>
                <a:path h="812800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703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849997"/>
            <a:ext cx="16230600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7539" y="5307803"/>
            <a:ext cx="4462010" cy="168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2"/>
              </a:lnSpc>
              <a:spcBef>
                <a:spcPct val="0"/>
              </a:spcBef>
            </a:pPr>
            <a:r>
              <a:rPr lang="en-US" sz="29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Hundreds  of diagnostic signals genrated by modern vehicles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6355" y="5317328"/>
            <a:ext cx="4075290" cy="204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Less than 20% of drivers fully understand the warning lights in their cars.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15090" y="4778818"/>
            <a:ext cx="4848730" cy="3086100"/>
            <a:chOff x="0" y="0"/>
            <a:chExt cx="127703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7032" cy="812800"/>
            </a:xfrm>
            <a:custGeom>
              <a:avLst/>
              <a:gdLst/>
              <a:ahLst/>
              <a:cxnLst/>
              <a:rect r="r" b="b" t="t" l="l"/>
              <a:pathLst>
                <a:path h="812800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703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995445" y="5444514"/>
            <a:ext cx="4075290" cy="141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9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This is 1 out of every 5 drivers in cameroon alone</a:t>
            </a:r>
          </a:p>
        </p:txBody>
      </p:sp>
      <p:grpSp>
        <p:nvGrpSpPr>
          <p:cNvPr name="Group 18" id="18"/>
          <p:cNvGrpSpPr/>
          <p:nvPr/>
        </p:nvGrpSpPr>
        <p:grpSpPr>
          <a:xfrm rot="-2699999">
            <a:off x="-3089558" y="2284284"/>
            <a:ext cx="4906166" cy="4505918"/>
            <a:chOff x="0" y="0"/>
            <a:chExt cx="3397795" cy="3120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16574543" y="-364103"/>
            <a:ext cx="3426914" cy="3147344"/>
            <a:chOff x="0" y="0"/>
            <a:chExt cx="2373330" cy="21797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3330" cy="2179712"/>
            </a:xfrm>
            <a:custGeom>
              <a:avLst/>
              <a:gdLst/>
              <a:ahLst/>
              <a:cxnLst/>
              <a:rect r="r" b="b" t="t" l="l"/>
              <a:pathLst>
                <a:path h="2179712" w="2373330">
                  <a:moveTo>
                    <a:pt x="0" y="0"/>
                  </a:moveTo>
                  <a:lnTo>
                    <a:pt x="2373330" y="0"/>
                  </a:lnTo>
                  <a:lnTo>
                    <a:pt x="2373330" y="2179712"/>
                  </a:lnTo>
                  <a:lnTo>
                    <a:pt x="0" y="217971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373330" cy="221781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2699999">
            <a:off x="1392467" y="1419794"/>
            <a:ext cx="1849722" cy="1795069"/>
            <a:chOff x="0" y="0"/>
            <a:chExt cx="1281036" cy="12431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2699999">
            <a:off x="15511370" y="1992562"/>
            <a:ext cx="1118730" cy="1085676"/>
            <a:chOff x="0" y="0"/>
            <a:chExt cx="774783" cy="7518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4783" cy="751892"/>
            </a:xfrm>
            <a:custGeom>
              <a:avLst/>
              <a:gdLst/>
              <a:ahLst/>
              <a:cxnLst/>
              <a:rect r="r" b="b" t="t" l="l"/>
              <a:pathLst>
                <a:path h="751892" w="774783">
                  <a:moveTo>
                    <a:pt x="0" y="0"/>
                  </a:moveTo>
                  <a:lnTo>
                    <a:pt x="774783" y="0"/>
                  </a:lnTo>
                  <a:lnTo>
                    <a:pt x="774783" y="751892"/>
                  </a:lnTo>
                  <a:lnTo>
                    <a:pt x="0" y="75189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74783" cy="78999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76434"/>
            <a:ext cx="12271649" cy="62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3"/>
              </a:lnSpc>
              <a:spcBef>
                <a:spcPct val="0"/>
              </a:spcBef>
            </a:pPr>
            <a:r>
              <a:rPr lang="en-US" b="true" sz="4908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Objective of Requirement Gathering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2870" y="4514047"/>
            <a:ext cx="8766979" cy="411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460" indent="-317730" lvl="1">
              <a:lnSpc>
                <a:spcPts val="4120"/>
              </a:lnSpc>
              <a:spcBef>
                <a:spcPct val="0"/>
              </a:spcBef>
              <a:buAutoNum type="arabicPeriod" startAt="1"/>
            </a:pPr>
            <a:r>
              <a:rPr lang="en-US" sz="294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Unde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stand th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agno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tic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chal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enge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 by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ar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w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ners.</a:t>
            </a:r>
          </a:p>
          <a:p>
            <a:pPr algn="l" marL="635460" indent="-317730" lvl="1">
              <a:lnSpc>
                <a:spcPts val="4120"/>
              </a:lnSpc>
              <a:spcBef>
                <a:spcPct val="0"/>
              </a:spcBef>
              <a:buAutoNum type="arabicPeriod" startAt="1"/>
            </a:pP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Id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fy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mm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yp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 v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ult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exper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ced by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rs</a:t>
            </a:r>
          </a:p>
          <a:p>
            <a:pPr algn="l" marL="635460" indent="-317730" lvl="1">
              <a:lnSpc>
                <a:spcPts val="4120"/>
              </a:lnSpc>
              <a:spcBef>
                <a:spcPct val="0"/>
              </a:spcBef>
              <a:buAutoNum type="arabicPeriod" startAt="1"/>
            </a:pP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Eval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ate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im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itat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ons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of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xis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ing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di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agnost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ic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ions</a:t>
            </a:r>
          </a:p>
          <a:p>
            <a:pPr algn="l" marL="635460" indent="-317730" lvl="1">
              <a:lnSpc>
                <a:spcPts val="4120"/>
              </a:lnSpc>
              <a:spcBef>
                <a:spcPct val="0"/>
              </a:spcBef>
              <a:buAutoNum type="arabicPeriod" startAt="1"/>
            </a:pP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Dete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min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key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feature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require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f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or a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r-fri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ndly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di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agno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sys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2943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2870" y="2969358"/>
            <a:ext cx="7298522" cy="107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50"/>
              </a:lnSpc>
              <a:spcBef>
                <a:spcPct val="0"/>
              </a:spcBef>
            </a:pPr>
            <a:r>
              <a:rPr lang="en-US" b="true" sz="376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The Requirements gathering aimed to:</a:t>
            </a:r>
          </a:p>
        </p:txBody>
      </p:sp>
      <p:grpSp>
        <p:nvGrpSpPr>
          <p:cNvPr name="Group 8" id="8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2762" cy="1683244"/>
            </a:xfrm>
            <a:custGeom>
              <a:avLst/>
              <a:gdLst/>
              <a:ahLst/>
              <a:cxnLst/>
              <a:rect r="r" b="b" t="t" l="l"/>
              <a:pathLst>
                <a:path h="1683244" w="1832762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49694" t="0" r="-30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3956" y="4690348"/>
            <a:ext cx="5220044" cy="3897491"/>
            <a:chOff x="0" y="0"/>
            <a:chExt cx="1374826" cy="1026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4826" cy="1026500"/>
            </a:xfrm>
            <a:custGeom>
              <a:avLst/>
              <a:gdLst/>
              <a:ahLst/>
              <a:cxnLst/>
              <a:rect r="r" b="b" t="t" l="l"/>
              <a:pathLst>
                <a:path h="1026500" w="1374826">
                  <a:moveTo>
                    <a:pt x="0" y="0"/>
                  </a:moveTo>
                  <a:lnTo>
                    <a:pt x="1374826" y="0"/>
                  </a:lnTo>
                  <a:lnTo>
                    <a:pt x="1374826" y="1026500"/>
                  </a:lnTo>
                  <a:lnTo>
                    <a:pt x="0" y="102650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4826" cy="106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849997"/>
            <a:ext cx="16230600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Key Stakeh</a:t>
            </a:r>
            <a:r>
              <a:rPr lang="en-US" b="true" sz="8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ol</a:t>
            </a:r>
            <a:r>
              <a:rPr lang="en-US" b="true" sz="8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der</a:t>
            </a:r>
            <a:r>
              <a:rPr lang="en-US" b="true" sz="8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119" y="6452086"/>
            <a:ext cx="3092526" cy="127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5"/>
              </a:lnSpc>
              <a:spcBef>
                <a:spcPct val="0"/>
              </a:spcBef>
            </a:pPr>
            <a:r>
              <a:rPr lang="en-US" sz="22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iv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wh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 nee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a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cessi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le 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dia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no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sti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in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mati</a:t>
            </a:r>
            <a:r>
              <a:rPr lang="en-US" sz="225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8425" y="6547813"/>
            <a:ext cx="419786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essiona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esp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nsib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 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for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dia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an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rep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ir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ng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veh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cle</a:t>
            </a:r>
            <a:r>
              <a:rPr lang="en-US" sz="25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5119" y="4944212"/>
            <a:ext cx="3028837" cy="89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5"/>
              </a:lnSpc>
              <a:spcBef>
                <a:spcPct val="0"/>
              </a:spcBef>
            </a:pPr>
            <a:r>
              <a:rPr lang="en-US" b="true" sz="318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Vehicle owners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88425" y="4944212"/>
            <a:ext cx="3891106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73"/>
              </a:lnSpc>
              <a:spcBef>
                <a:spcPct val="0"/>
              </a:spcBef>
            </a:pPr>
            <a:r>
              <a:rPr lang="en-US" b="true" sz="42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Automobile mechanics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4454" y="6777572"/>
            <a:ext cx="3864370" cy="124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7"/>
              </a:lnSpc>
              <a:spcBef>
                <a:spcPct val="0"/>
              </a:spcBef>
            </a:pPr>
            <a:r>
              <a:rPr lang="en-US" sz="288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ro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 i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sig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ts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 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pa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ir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c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osts and 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ar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ts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a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ai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lity</a:t>
            </a:r>
            <a:r>
              <a:rPr lang="en-US" sz="2882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45714" y="4534362"/>
            <a:ext cx="4293110" cy="113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2"/>
              </a:lnSpc>
              <a:spcBef>
                <a:spcPct val="0"/>
              </a:spcBef>
            </a:pPr>
            <a:r>
              <a:rPr lang="en-US" b="true" sz="394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Car parts dealers</a:t>
            </a:r>
          </a:p>
        </p:txBody>
      </p:sp>
      <p:grpSp>
        <p:nvGrpSpPr>
          <p:cNvPr name="Group 15" id="15"/>
          <p:cNvGrpSpPr/>
          <p:nvPr/>
        </p:nvGrpSpPr>
        <p:grpSpPr>
          <a:xfrm rot="-2699999">
            <a:off x="-1934389" y="-747880"/>
            <a:ext cx="3868778" cy="3553160"/>
            <a:chOff x="0" y="0"/>
            <a:chExt cx="2679345" cy="2460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16542837" y="1273066"/>
            <a:ext cx="3868778" cy="3553160"/>
            <a:chOff x="0" y="0"/>
            <a:chExt cx="2679345" cy="24607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15004062" y="1282712"/>
            <a:ext cx="1545012" cy="1418968"/>
            <a:chOff x="0" y="0"/>
            <a:chExt cx="1070007" cy="9827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007" cy="982715"/>
            </a:xfrm>
            <a:custGeom>
              <a:avLst/>
              <a:gdLst/>
              <a:ahLst/>
              <a:cxnLst/>
              <a:rect r="r" b="b" t="t" l="l"/>
              <a:pathLst>
                <a:path h="982715" w="1070007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2699999">
            <a:off x="2168435" y="1098230"/>
            <a:ext cx="1967492" cy="1806982"/>
            <a:chOff x="0" y="0"/>
            <a:chExt cx="1362598" cy="12514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2598" cy="1251436"/>
            </a:xfrm>
            <a:custGeom>
              <a:avLst/>
              <a:gdLst/>
              <a:ahLst/>
              <a:cxnLst/>
              <a:rect r="r" b="b" t="t" l="l"/>
              <a:pathLst>
                <a:path h="1251436" w="1362598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667721" y="4429587"/>
            <a:ext cx="4217693" cy="145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9"/>
              </a:lnSpc>
              <a:spcBef>
                <a:spcPct val="0"/>
              </a:spcBef>
            </a:pPr>
            <a:r>
              <a:rPr lang="en-US" b="true" sz="41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</a:t>
            </a:r>
            <a:r>
              <a:rPr lang="en-US" b="true" sz="41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oftware developers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12753" y="6366361"/>
            <a:ext cx="3527629" cy="201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Resp</a:t>
            </a:r>
            <a:r>
              <a:rPr lang="en-US" sz="2885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onsible for designing and implementing the diagnostic system.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84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71254" y="1593673"/>
            <a:ext cx="12674232" cy="154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2"/>
              </a:lnSpc>
              <a:spcBef>
                <a:spcPct val="0"/>
              </a:spcBef>
            </a:pPr>
            <a:r>
              <a:rPr lang="en-US" b="true" sz="6247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Meth</a:t>
            </a:r>
            <a:r>
              <a:rPr lang="en-US" b="true" sz="62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62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ds Used for Requir</a:t>
            </a:r>
            <a:r>
              <a:rPr lang="en-US" b="true" sz="62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em</a:t>
            </a:r>
            <a:r>
              <a:rPr lang="en-US" b="true" sz="62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ent Gathering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9318" y="4726664"/>
            <a:ext cx="5063870" cy="17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978" indent="-431489" lvl="1">
              <a:lnSpc>
                <a:spcPts val="4516"/>
              </a:lnSpc>
              <a:buAutoNum type="arabicPeriod" startAt="1"/>
            </a:pPr>
            <a:r>
              <a:rPr lang="en-US" b="true" sz="3997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b="true" sz="399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interv</a:t>
            </a:r>
            <a:r>
              <a:rPr lang="en-US" b="true" sz="399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iew</a:t>
            </a:r>
            <a:r>
              <a:rPr lang="en-US" b="true" sz="399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399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wi</a:t>
            </a:r>
            <a:r>
              <a:rPr lang="en-US" b="true" sz="399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th Stake holders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6781" y="4755818"/>
            <a:ext cx="5669393" cy="166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4853" indent="-417426" lvl="1">
              <a:lnSpc>
                <a:spcPts val="4369"/>
              </a:lnSpc>
              <a:buAutoNum type="arabicPeriod" startAt="1"/>
            </a:pPr>
            <a:r>
              <a:rPr lang="en-US" b="true" sz="3866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Online surveys using Google Forms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7160" y="6393295"/>
            <a:ext cx="2588492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ew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au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mot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iv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 di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gnosti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do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um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nta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00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96174" y="4755818"/>
            <a:ext cx="5292524" cy="201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138" indent="-382069" lvl="1">
              <a:lnSpc>
                <a:spcPts val="3999"/>
              </a:lnSpc>
              <a:buAutoNum type="arabicPeriod" startAt="1"/>
            </a:pPr>
            <a:r>
              <a:rPr lang="en-US" b="true" sz="3539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3539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eview of automotive diagnostic documentations</a:t>
            </a:r>
          </a:p>
        </p:txBody>
      </p:sp>
      <p:grpSp>
        <p:nvGrpSpPr>
          <p:cNvPr name="Group 10" id="10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584339" y="3911374"/>
            <a:ext cx="3324056" cy="332405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632012">
            <a:off x="8374144" y="4701179"/>
            <a:ext cx="1744447" cy="1744447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3005279" y="3570785"/>
            <a:ext cx="1740278" cy="1000124"/>
            <a:chOff x="0" y="0"/>
            <a:chExt cx="458345" cy="263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8345" cy="263407"/>
            </a:xfrm>
            <a:custGeom>
              <a:avLst/>
              <a:gdLst/>
              <a:ahLst/>
              <a:cxnLst/>
              <a:rect r="r" b="b" t="t" l="l"/>
              <a:pathLst>
                <a:path h="263407" w="458345">
                  <a:moveTo>
                    <a:pt x="131704" y="0"/>
                  </a:moveTo>
                  <a:lnTo>
                    <a:pt x="326641" y="0"/>
                  </a:lnTo>
                  <a:cubicBezTo>
                    <a:pt x="361571" y="0"/>
                    <a:pt x="395071" y="13876"/>
                    <a:pt x="419770" y="38575"/>
                  </a:cubicBezTo>
                  <a:cubicBezTo>
                    <a:pt x="444469" y="63274"/>
                    <a:pt x="458345" y="96774"/>
                    <a:pt x="458345" y="131704"/>
                  </a:cubicBezTo>
                  <a:lnTo>
                    <a:pt x="458345" y="131704"/>
                  </a:lnTo>
                  <a:cubicBezTo>
                    <a:pt x="458345" y="166634"/>
                    <a:pt x="444469" y="200133"/>
                    <a:pt x="419770" y="224832"/>
                  </a:cubicBezTo>
                  <a:cubicBezTo>
                    <a:pt x="395071" y="249531"/>
                    <a:pt x="361571" y="263407"/>
                    <a:pt x="326641" y="263407"/>
                  </a:cubicBezTo>
                  <a:lnTo>
                    <a:pt x="131704" y="263407"/>
                  </a:lnTo>
                  <a:cubicBezTo>
                    <a:pt x="96774" y="263407"/>
                    <a:pt x="63274" y="249531"/>
                    <a:pt x="38575" y="224832"/>
                  </a:cubicBezTo>
                  <a:cubicBezTo>
                    <a:pt x="13876" y="200133"/>
                    <a:pt x="0" y="166634"/>
                    <a:pt x="0" y="131704"/>
                  </a:cubicBezTo>
                  <a:lnTo>
                    <a:pt x="0" y="131704"/>
                  </a:lnTo>
                  <a:cubicBezTo>
                    <a:pt x="0" y="96774"/>
                    <a:pt x="13876" y="63274"/>
                    <a:pt x="38575" y="38575"/>
                  </a:cubicBezTo>
                  <a:cubicBezTo>
                    <a:pt x="63274" y="13876"/>
                    <a:pt x="96774" y="0"/>
                    <a:pt x="131704" y="0"/>
                  </a:cubicBez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8345" cy="311032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23349" y="4429043"/>
            <a:ext cx="1740278" cy="1000124"/>
            <a:chOff x="0" y="0"/>
            <a:chExt cx="458345" cy="263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345" cy="263407"/>
            </a:xfrm>
            <a:custGeom>
              <a:avLst/>
              <a:gdLst/>
              <a:ahLst/>
              <a:cxnLst/>
              <a:rect r="r" b="b" t="t" l="l"/>
              <a:pathLst>
                <a:path h="263407" w="458345">
                  <a:moveTo>
                    <a:pt x="131704" y="0"/>
                  </a:moveTo>
                  <a:lnTo>
                    <a:pt x="326641" y="0"/>
                  </a:lnTo>
                  <a:cubicBezTo>
                    <a:pt x="361571" y="0"/>
                    <a:pt x="395071" y="13876"/>
                    <a:pt x="419770" y="38575"/>
                  </a:cubicBezTo>
                  <a:cubicBezTo>
                    <a:pt x="444469" y="63274"/>
                    <a:pt x="458345" y="96774"/>
                    <a:pt x="458345" y="131704"/>
                  </a:cubicBezTo>
                  <a:lnTo>
                    <a:pt x="458345" y="131704"/>
                  </a:lnTo>
                  <a:cubicBezTo>
                    <a:pt x="458345" y="166634"/>
                    <a:pt x="444469" y="200133"/>
                    <a:pt x="419770" y="224832"/>
                  </a:cubicBezTo>
                  <a:cubicBezTo>
                    <a:pt x="395071" y="249531"/>
                    <a:pt x="361571" y="263407"/>
                    <a:pt x="326641" y="263407"/>
                  </a:cubicBezTo>
                  <a:lnTo>
                    <a:pt x="131704" y="263407"/>
                  </a:lnTo>
                  <a:cubicBezTo>
                    <a:pt x="96774" y="263407"/>
                    <a:pt x="63274" y="249531"/>
                    <a:pt x="38575" y="224832"/>
                  </a:cubicBezTo>
                  <a:cubicBezTo>
                    <a:pt x="13876" y="200133"/>
                    <a:pt x="0" y="166634"/>
                    <a:pt x="0" y="131704"/>
                  </a:cubicBezTo>
                  <a:lnTo>
                    <a:pt x="0" y="131704"/>
                  </a:lnTo>
                  <a:cubicBezTo>
                    <a:pt x="0" y="96774"/>
                    <a:pt x="13876" y="63274"/>
                    <a:pt x="38575" y="38575"/>
                  </a:cubicBezTo>
                  <a:cubicBezTo>
                    <a:pt x="63274" y="13876"/>
                    <a:pt x="96774" y="0"/>
                    <a:pt x="131704" y="0"/>
                  </a:cubicBez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8345" cy="311032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>
            <a:off x="9474967" y="4070846"/>
            <a:ext cx="3530312" cy="1066369"/>
          </a:xfrm>
          <a:custGeom>
            <a:avLst/>
            <a:gdLst/>
            <a:ahLst/>
            <a:cxnLst/>
            <a:rect r="r" b="b" t="t" l="l"/>
            <a:pathLst>
              <a:path h="1066369" w="3530312">
                <a:moveTo>
                  <a:pt x="3530312" y="0"/>
                </a:moveTo>
                <a:lnTo>
                  <a:pt x="2175670" y="0"/>
                </a:lnTo>
                <a:cubicBezTo>
                  <a:pt x="2115041" y="0"/>
                  <a:pt x="2056896" y="24085"/>
                  <a:pt x="2014026" y="66956"/>
                </a:cubicBezTo>
                <a:cubicBezTo>
                  <a:pt x="1971154" y="109827"/>
                  <a:pt x="1947070" y="167972"/>
                  <a:pt x="1947070" y="228600"/>
                </a:cubicBezTo>
                <a:lnTo>
                  <a:pt x="1947070" y="837770"/>
                </a:lnTo>
                <a:cubicBezTo>
                  <a:pt x="1947070" y="898398"/>
                  <a:pt x="1922985" y="956544"/>
                  <a:pt x="1880114" y="999415"/>
                </a:cubicBezTo>
                <a:cubicBezTo>
                  <a:pt x="1837244" y="1042285"/>
                  <a:pt x="1779099" y="1066370"/>
                  <a:pt x="1718470" y="1066370"/>
                </a:cubicBezTo>
                <a:lnTo>
                  <a:pt x="0" y="1066370"/>
                </a:lnTo>
              </a:path>
            </a:pathLst>
          </a:custGeom>
          <a:ln cap="rnd" w="38100">
            <a:solidFill>
              <a:srgbClr val="00006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4" id="14"/>
          <p:cNvSpPr/>
          <p:nvPr/>
        </p:nvSpPr>
        <p:spPr>
          <a:xfrm>
            <a:off x="4763627" y="4929105"/>
            <a:ext cx="4482740" cy="653524"/>
          </a:xfrm>
          <a:custGeom>
            <a:avLst/>
            <a:gdLst/>
            <a:ahLst/>
            <a:cxnLst/>
            <a:rect r="r" b="b" t="t" l="l"/>
            <a:pathLst>
              <a:path h="653524" w="4482740">
                <a:moveTo>
                  <a:pt x="0" y="0"/>
                </a:moveTo>
                <a:lnTo>
                  <a:pt x="1418469" y="0"/>
                </a:lnTo>
                <a:cubicBezTo>
                  <a:pt x="1544721" y="0"/>
                  <a:pt x="1647069" y="102348"/>
                  <a:pt x="1647069" y="228600"/>
                </a:cubicBezTo>
                <a:lnTo>
                  <a:pt x="1647069" y="424924"/>
                </a:lnTo>
                <a:cubicBezTo>
                  <a:pt x="1647069" y="551176"/>
                  <a:pt x="1749417" y="653524"/>
                  <a:pt x="1875669" y="653524"/>
                </a:cubicBezTo>
                <a:lnTo>
                  <a:pt x="4482740" y="653524"/>
                </a:lnTo>
              </a:path>
            </a:pathLst>
          </a:custGeom>
          <a:ln cap="rnd" w="38100">
            <a:solidFill>
              <a:srgbClr val="00006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3359113" y="1250748"/>
            <a:ext cx="13016876" cy="8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31"/>
              </a:lnSpc>
              <a:spcBef>
                <a:spcPct val="0"/>
              </a:spcBef>
            </a:pPr>
            <a:r>
              <a:rPr lang="en-US" b="true" sz="6415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Insights from User </a:t>
            </a:r>
            <a:r>
              <a:rPr lang="en-US" b="true" sz="6415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Interviews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21532" y="3903975"/>
            <a:ext cx="3439299" cy="137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2"/>
              </a:lnSpc>
              <a:spcBef>
                <a:spcPct val="0"/>
              </a:spcBef>
            </a:pPr>
            <a:r>
              <a:rPr lang="en-US" sz="24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Find diff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ul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ty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interp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ret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ing d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boa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 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w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ar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sig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400" strike="noStrike" u="none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5022" y="4783072"/>
            <a:ext cx="3340831" cy="14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Are able to properly interprete dashboard warning signals.</a:t>
            </a:r>
          </a:p>
        </p:txBody>
      </p:sp>
      <p:grpSp>
        <p:nvGrpSpPr>
          <p:cNvPr name="Group 18" id="18"/>
          <p:cNvGrpSpPr/>
          <p:nvPr/>
        </p:nvGrpSpPr>
        <p:grpSpPr>
          <a:xfrm rot="-2699999">
            <a:off x="-2726595" y="-227420"/>
            <a:ext cx="4906166" cy="4505918"/>
            <a:chOff x="0" y="0"/>
            <a:chExt cx="3397795" cy="3120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16178849" y="6533689"/>
            <a:ext cx="4906166" cy="4505918"/>
            <a:chOff x="0" y="0"/>
            <a:chExt cx="3397795" cy="312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2699999">
            <a:off x="1098323" y="2543398"/>
            <a:ext cx="1918747" cy="1762214"/>
            <a:chOff x="0" y="0"/>
            <a:chExt cx="1328840" cy="122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8840" cy="1220432"/>
            </a:xfrm>
            <a:custGeom>
              <a:avLst/>
              <a:gdLst/>
              <a:ahLst/>
              <a:cxnLst/>
              <a:rect r="r" b="b" t="t" l="l"/>
              <a:pathLst>
                <a:path h="1220432" w="1328840">
                  <a:moveTo>
                    <a:pt x="0" y="0"/>
                  </a:moveTo>
                  <a:lnTo>
                    <a:pt x="1328840" y="0"/>
                  </a:lnTo>
                  <a:lnTo>
                    <a:pt x="1328840" y="1220432"/>
                  </a:lnTo>
                  <a:lnTo>
                    <a:pt x="0" y="122043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28840" cy="125853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638320" y="2266418"/>
            <a:ext cx="6409756" cy="143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9"/>
              </a:lnSpc>
              <a:spcBef>
                <a:spcPct val="0"/>
              </a:spcBef>
            </a:pPr>
            <a:r>
              <a:rPr lang="en-US" b="true" sz="27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26 inf</a:t>
            </a:r>
            <a:r>
              <a:rPr lang="en-US" b="true" sz="27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ormal interviews were conducted with car owners around:</a:t>
            </a:r>
          </a:p>
          <a:p>
            <a:pPr algn="just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016454" y="3493584"/>
            <a:ext cx="3961805" cy="74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896" indent="-235948" lvl="1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Molyko</a:t>
            </a:r>
          </a:p>
          <a:p>
            <a:pPr algn="l" marL="471896" indent="-235948" lvl="1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University of Buea Campus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8761" y="6535788"/>
            <a:ext cx="4210705" cy="42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4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Many </a:t>
            </a:r>
            <a:r>
              <a:rPr lang="en-US" b="true" sz="24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users indicated that: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2752" y="7148926"/>
            <a:ext cx="6928425" cy="24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632" indent="-307316" lvl="1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Electrical faults </a:t>
            </a: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occur frequently</a:t>
            </a:r>
          </a:p>
          <a:p>
            <a:pPr algn="l" marL="614632" indent="-307316" lvl="1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Warning lights are confusing</a:t>
            </a:r>
          </a:p>
          <a:p>
            <a:pPr algn="ctr" marL="614632" indent="-307316" lvl="1">
              <a:lnSpc>
                <a:spcPts val="3985"/>
              </a:lnSpc>
              <a:spcBef>
                <a:spcPct val="0"/>
              </a:spcBef>
              <a:buFont typeface="Arial"/>
              <a:buChar char="•"/>
            </a:pP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iagnosing problems early is difficult.</a:t>
            </a:r>
          </a:p>
          <a:p>
            <a:pPr algn="l" marL="614632" indent="-307316" lvl="1">
              <a:lnSpc>
                <a:spcPts val="3985"/>
              </a:lnSpc>
              <a:spcBef>
                <a:spcPct val="0"/>
              </a:spcBef>
              <a:buFont typeface="Arial"/>
              <a:buChar char="•"/>
            </a:pPr>
            <a:r>
              <a:rPr lang="en-US" sz="2846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No source of authentic parts cost.</a:t>
            </a:r>
          </a:p>
          <a:p>
            <a:pPr algn="ctr">
              <a:lnSpc>
                <a:spcPts val="39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322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3551287" y="-1511178"/>
            <a:ext cx="5530977" cy="5079756"/>
            <a:chOff x="0" y="0"/>
            <a:chExt cx="3830511" cy="3518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30511" cy="3518015"/>
            </a:xfrm>
            <a:custGeom>
              <a:avLst/>
              <a:gdLst/>
              <a:ahLst/>
              <a:cxnLst/>
              <a:rect r="r" b="b" t="t" l="l"/>
              <a:pathLst>
                <a:path h="3518015" w="3830511">
                  <a:moveTo>
                    <a:pt x="0" y="0"/>
                  </a:moveTo>
                  <a:lnTo>
                    <a:pt x="3830511" y="0"/>
                  </a:lnTo>
                  <a:lnTo>
                    <a:pt x="3830511" y="3518015"/>
                  </a:lnTo>
                  <a:lnTo>
                    <a:pt x="0" y="3518015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30511" cy="35561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5314662" y="4750439"/>
            <a:ext cx="4066725" cy="3734959"/>
            <a:chOff x="0" y="0"/>
            <a:chExt cx="2816434" cy="2586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2309877" y="7850237"/>
            <a:ext cx="4066725" cy="3734959"/>
            <a:chOff x="0" y="0"/>
            <a:chExt cx="2816434" cy="2586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94330" y="2463628"/>
            <a:ext cx="8149942" cy="2840087"/>
            <a:chOff x="0" y="0"/>
            <a:chExt cx="2146487" cy="7480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6487" cy="748007"/>
            </a:xfrm>
            <a:custGeom>
              <a:avLst/>
              <a:gdLst/>
              <a:ahLst/>
              <a:cxnLst/>
              <a:rect r="r" b="b" t="t" l="l"/>
              <a:pathLst>
                <a:path h="748007" w="2146487">
                  <a:moveTo>
                    <a:pt x="48447" y="0"/>
                  </a:moveTo>
                  <a:lnTo>
                    <a:pt x="2098040" y="0"/>
                  </a:lnTo>
                  <a:cubicBezTo>
                    <a:pt x="2124796" y="0"/>
                    <a:pt x="2146487" y="21690"/>
                    <a:pt x="2146487" y="48447"/>
                  </a:cubicBezTo>
                  <a:lnTo>
                    <a:pt x="2146487" y="699560"/>
                  </a:lnTo>
                  <a:cubicBezTo>
                    <a:pt x="2146487" y="726316"/>
                    <a:pt x="2124796" y="748007"/>
                    <a:pt x="2098040" y="748007"/>
                  </a:cubicBezTo>
                  <a:lnTo>
                    <a:pt x="48447" y="748007"/>
                  </a:lnTo>
                  <a:cubicBezTo>
                    <a:pt x="21690" y="748007"/>
                    <a:pt x="0" y="726316"/>
                    <a:pt x="0" y="699560"/>
                  </a:cubicBezTo>
                  <a:lnTo>
                    <a:pt x="0" y="48447"/>
                  </a:lnTo>
                  <a:cubicBezTo>
                    <a:pt x="0" y="21690"/>
                    <a:pt x="21690" y="0"/>
                    <a:pt x="48447" y="0"/>
                  </a:cubicBez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6487" cy="786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921060" y="2606539"/>
            <a:ext cx="6832766" cy="2554267"/>
          </a:xfrm>
          <a:custGeom>
            <a:avLst/>
            <a:gdLst/>
            <a:ahLst/>
            <a:cxnLst/>
            <a:rect r="r" b="b" t="t" l="l"/>
            <a:pathLst>
              <a:path h="2554267" w="6832766">
                <a:moveTo>
                  <a:pt x="0" y="0"/>
                </a:moveTo>
                <a:lnTo>
                  <a:pt x="6832766" y="0"/>
                </a:lnTo>
                <a:lnTo>
                  <a:pt x="6832766" y="2554267"/>
                </a:lnTo>
                <a:lnTo>
                  <a:pt x="0" y="255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57" t="0" r="-5782" b="-574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97409" y="613215"/>
            <a:ext cx="9333367" cy="165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5"/>
              </a:lnSpc>
              <a:spcBef>
                <a:spcPct val="0"/>
              </a:spcBef>
            </a:pPr>
            <a:r>
              <a:rPr lang="en-US" b="true" sz="6719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Online Surv</a:t>
            </a:r>
            <a:r>
              <a:rPr lang="en-US" b="true" sz="6719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6719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y</a:t>
            </a:r>
            <a:r>
              <a:rPr lang="en-US" b="true" sz="6719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Finding</a:t>
            </a:r>
            <a:r>
              <a:rPr lang="en-US" b="true" sz="6719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7409" y="2482678"/>
            <a:ext cx="5976251" cy="38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ponses 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 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co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lle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ted 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f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rom</a:t>
            </a:r>
            <a:r>
              <a:rPr lang="en-US" b="true" sz="27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9758" y="2987444"/>
            <a:ext cx="8534242" cy="146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815" indent="-292908" lvl="1">
              <a:lnSpc>
                <a:spcPts val="62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13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Car owners</a:t>
            </a:r>
          </a:p>
          <a:p>
            <a:pPr algn="l" marL="585815" indent="-292908" lvl="1">
              <a:lnSpc>
                <a:spcPts val="62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13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Mechanics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797" y="10044908"/>
            <a:ext cx="17910406" cy="2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285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Your paragraph text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8512" y="5408046"/>
            <a:ext cx="5851269" cy="74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b="true" sz="21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The s</a:t>
            </a:r>
            <a:r>
              <a:rPr lang="en-US" b="true" sz="2185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urvey confirmed similar challenges identified during interviews: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797" y="10044908"/>
            <a:ext cx="17910406" cy="2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285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Your paragraph text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9758" y="6560769"/>
            <a:ext cx="9860459" cy="218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543" indent="-271271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Difficulty </a:t>
            </a:r>
            <a:r>
              <a:rPr lang="en-US" sz="2512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understanding fault indicators</a:t>
            </a:r>
          </a:p>
          <a:p>
            <a:pPr algn="l" marL="542543" indent="-271271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Limited access to diagnostic information</a:t>
            </a:r>
          </a:p>
          <a:p>
            <a:pPr algn="l" marL="542543" indent="-271271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Dependence on mechanics for interpretation</a:t>
            </a:r>
          </a:p>
          <a:p>
            <a:pPr algn="l" marL="542543" indent="-271271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000066"/>
                </a:solidFill>
                <a:latin typeface="Open Sans 1"/>
                <a:ea typeface="Open Sans 1"/>
                <a:cs typeface="Open Sans 1"/>
                <a:sym typeface="Open Sans 1"/>
              </a:rPr>
              <a:t>Mechanics worry about the rapid evolution of different models</a:t>
            </a:r>
          </a:p>
          <a:p>
            <a:pPr algn="l">
              <a:lnSpc>
                <a:spcPts val="351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74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48175" y="2139048"/>
          <a:ext cx="15908987" cy="6819900"/>
        </p:xfrm>
        <a:graphic>
          <a:graphicData uri="http://schemas.openxmlformats.org/drawingml/2006/table">
            <a:tbl>
              <a:tblPr/>
              <a:tblGrid>
                <a:gridCol w="4123580"/>
                <a:gridCol w="2946352"/>
                <a:gridCol w="2946352"/>
                <a:gridCol w="2946352"/>
                <a:gridCol w="2946352"/>
              </a:tblGrid>
              <a:tr h="1400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519"/>
                        </a:lnSpc>
                        <a:spcBef>
                          <a:spcPct val="0"/>
                        </a:spcBef>
                      </a:pPr>
                      <a:r>
                        <a:rPr lang="en-US" b="true" sz="17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rque</a:t>
                      </a:r>
                    </a:p>
                    <a:p>
                      <a:pPr algn="ctr" marL="0" indent="0" lvl="0">
                        <a:lnSpc>
                          <a:spcPts val="2519"/>
                        </a:lnSpc>
                        <a:spcBef>
                          <a:spcPct val="0"/>
                        </a:spcBef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rMD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Scanner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op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osed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b="true" sz="17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eads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OBD2 Fa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u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C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66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 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Easy 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Inter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ati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on for Dr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66"/>
                          </a:solidFill>
                          <a:latin typeface="Open Sans 2"/>
                          <a:ea typeface="Open Sans 2"/>
                          <a:cs typeface="Open Sans 2"/>
                          <a:sym typeface="Open Sans 2"/>
                        </a:rPr>
                        <a:t>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0000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Offlin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Di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g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no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ic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Rep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ai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 Est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</a:t>
                      </a:r>
                      <a:r>
                        <a:rPr lang="en-US" b="true" sz="1999" strike="noStrike" u="none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>
                          <a:solidFill>
                            <a:srgbClr val="000066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Accessible Developer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 </a:t>
                      </a:r>
                      <a:r>
                        <a:rPr lang="en-US" sz="3099" b="true">
                          <a:solidFill>
                            <a:srgbClr val="000066"/>
                          </a:solidFill>
                          <a:latin typeface="Open Sans 2 Bold"/>
                          <a:ea typeface="Open Sans 2 Bold"/>
                          <a:cs typeface="Open Sans 2 Bold"/>
                          <a:sym typeface="Open Sans 2 Bold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953753" y="931024"/>
            <a:ext cx="11638679" cy="72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2"/>
              </a:lnSpc>
              <a:spcBef>
                <a:spcPct val="0"/>
              </a:spcBef>
            </a:pPr>
            <a:r>
              <a:rPr lang="en-US" b="true" sz="5736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An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lysis of Exis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ing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lut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ion</a:t>
            </a:r>
            <a:r>
              <a:rPr lang="en-US" b="true" sz="5736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6940536" y="7527576"/>
            <a:ext cx="4066725" cy="3734959"/>
            <a:chOff x="0" y="0"/>
            <a:chExt cx="2816434" cy="25866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-2033362" y="-643107"/>
            <a:ext cx="4066725" cy="3734959"/>
            <a:chOff x="0" y="0"/>
            <a:chExt cx="2816434" cy="2586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2357437" y="-973775"/>
            <a:ext cx="1932482" cy="1774829"/>
            <a:chOff x="0" y="0"/>
            <a:chExt cx="1338352" cy="12291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8352" cy="1229168"/>
            </a:xfrm>
            <a:custGeom>
              <a:avLst/>
              <a:gdLst/>
              <a:ahLst/>
              <a:cxnLst/>
              <a:rect r="r" b="b" t="t" l="l"/>
              <a:pathLst>
                <a:path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5443309" y="4948612"/>
            <a:ext cx="5689382" cy="5225239"/>
            <a:chOff x="0" y="0"/>
            <a:chExt cx="3940215" cy="3618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0215" cy="3618770"/>
            </a:xfrm>
            <a:custGeom>
              <a:avLst/>
              <a:gdLst/>
              <a:ahLst/>
              <a:cxnLst/>
              <a:rect r="r" b="b" t="t" l="l"/>
              <a:pathLst>
                <a:path h="3618770" w="3940215">
                  <a:moveTo>
                    <a:pt x="0" y="0"/>
                  </a:moveTo>
                  <a:lnTo>
                    <a:pt x="3940215" y="0"/>
                  </a:lnTo>
                  <a:lnTo>
                    <a:pt x="3940215" y="3618770"/>
                  </a:lnTo>
                  <a:lnTo>
                    <a:pt x="0" y="361877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40215" cy="365687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177779" y="439837"/>
            <a:ext cx="3123056" cy="2975850"/>
            <a:chOff x="0" y="0"/>
            <a:chExt cx="2162891" cy="2060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2891" cy="2060943"/>
            </a:xfrm>
            <a:custGeom>
              <a:avLst/>
              <a:gdLst/>
              <a:ahLst/>
              <a:cxnLst/>
              <a:rect r="r" b="b" t="t" l="l"/>
              <a:pathLst>
                <a:path h="2060943" w="2162891">
                  <a:moveTo>
                    <a:pt x="0" y="0"/>
                  </a:moveTo>
                  <a:lnTo>
                    <a:pt x="2162891" y="0"/>
                  </a:lnTo>
                  <a:lnTo>
                    <a:pt x="2162891" y="2060943"/>
                  </a:lnTo>
                  <a:lnTo>
                    <a:pt x="0" y="206094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62891" cy="2099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5695767" y="-237631"/>
            <a:ext cx="3710433" cy="3672687"/>
            <a:chOff x="0" y="0"/>
            <a:chExt cx="2569682" cy="2543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9682" cy="2543541"/>
            </a:xfrm>
            <a:custGeom>
              <a:avLst/>
              <a:gdLst/>
              <a:ahLst/>
              <a:cxnLst/>
              <a:rect r="r" b="b" t="t" l="l"/>
              <a:pathLst>
                <a:path h="2543541" w="2569682">
                  <a:moveTo>
                    <a:pt x="0" y="0"/>
                  </a:moveTo>
                  <a:lnTo>
                    <a:pt x="2569682" y="0"/>
                  </a:lnTo>
                  <a:lnTo>
                    <a:pt x="2569682" y="2543541"/>
                  </a:lnTo>
                  <a:lnTo>
                    <a:pt x="0" y="2543541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9682" cy="2581641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72713" y="7255451"/>
            <a:ext cx="4444778" cy="4399562"/>
            <a:chOff x="0" y="0"/>
            <a:chExt cx="3078258" cy="3046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78258" cy="3046943"/>
            </a:xfrm>
            <a:custGeom>
              <a:avLst/>
              <a:gdLst/>
              <a:ahLst/>
              <a:cxnLst/>
              <a:rect r="r" b="b" t="t" l="l"/>
              <a:pathLst>
                <a:path h="3046943" w="3078258">
                  <a:moveTo>
                    <a:pt x="0" y="0"/>
                  </a:moveTo>
                  <a:lnTo>
                    <a:pt x="3078258" y="0"/>
                  </a:lnTo>
                  <a:lnTo>
                    <a:pt x="3078258" y="3046943"/>
                  </a:lnTo>
                  <a:lnTo>
                    <a:pt x="0" y="304694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78258" cy="3085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14473524" y="3216887"/>
            <a:ext cx="2392158" cy="2367822"/>
            <a:chOff x="0" y="0"/>
            <a:chExt cx="1656703" cy="1639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6703" cy="1639849"/>
            </a:xfrm>
            <a:custGeom>
              <a:avLst/>
              <a:gdLst/>
              <a:ahLst/>
              <a:cxnLst/>
              <a:rect r="r" b="b" t="t" l="l"/>
              <a:pathLst>
                <a:path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699999">
            <a:off x="-2233903" y="2801262"/>
            <a:ext cx="4544006" cy="4497780"/>
            <a:chOff x="0" y="0"/>
            <a:chExt cx="3146978" cy="3114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6978" cy="3114964"/>
            </a:xfrm>
            <a:custGeom>
              <a:avLst/>
              <a:gdLst/>
              <a:ahLst/>
              <a:cxnLst/>
              <a:rect r="r" b="b" t="t" l="l"/>
              <a:pathLst>
                <a:path h="3114964" w="3146978">
                  <a:moveTo>
                    <a:pt x="0" y="0"/>
                  </a:moveTo>
                  <a:lnTo>
                    <a:pt x="3146978" y="0"/>
                  </a:lnTo>
                  <a:lnTo>
                    <a:pt x="3146978" y="3114964"/>
                  </a:lnTo>
                  <a:lnTo>
                    <a:pt x="0" y="311496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6978" cy="315306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307720" y="332739"/>
            <a:ext cx="6836688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Diagn</a:t>
            </a:r>
            <a:r>
              <a:rPr lang="en-US" b="true" sz="4099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ostic Data Collection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90617" y="2483375"/>
            <a:ext cx="10294512" cy="51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8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</a:t>
            </a:r>
            <a:r>
              <a:rPr lang="en-US" b="true" sz="259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uring the research phase we collected a large diagnostic dataset consisting of  </a:t>
            </a:r>
            <a:r>
              <a:rPr lang="en-US" b="true" sz="259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Over 18,000 diagnostic trouble codes</a:t>
            </a:r>
          </a:p>
          <a:p>
            <a:pPr algn="just">
              <a:lnSpc>
                <a:spcPts val="3358"/>
              </a:lnSpc>
              <a:spcBef>
                <a:spcPct val="0"/>
              </a:spcBef>
            </a:pPr>
          </a:p>
          <a:p>
            <a:pPr algn="just">
              <a:lnSpc>
                <a:spcPts val="3358"/>
              </a:lnSpc>
            </a:pPr>
          </a:p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  </a:t>
            </a: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These codes belong to internationally recognized OBD2 families:</a:t>
            </a:r>
          </a:p>
          <a:p>
            <a:pPr algn="l" marL="604231" indent="-302116" lvl="1">
              <a:lnSpc>
                <a:spcPts val="3918"/>
              </a:lnSpc>
              <a:buAutoNum type="arabicPeriod" startAt="1"/>
            </a:pP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 (Powertrain)</a:t>
            </a:r>
          </a:p>
          <a:p>
            <a:pPr algn="l" marL="604231" indent="-302116" lvl="1">
              <a:lnSpc>
                <a:spcPts val="3918"/>
              </a:lnSpc>
              <a:buAutoNum type="arabicPeriod" startAt="1"/>
            </a:pP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 (Body)</a:t>
            </a:r>
          </a:p>
          <a:p>
            <a:pPr algn="l" marL="604231" indent="-302116" lvl="1">
              <a:lnSpc>
                <a:spcPts val="3918"/>
              </a:lnSpc>
              <a:buAutoNum type="arabicPeriod" startAt="1"/>
            </a:pP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 (Chassis)</a:t>
            </a:r>
          </a:p>
          <a:p>
            <a:pPr algn="l" marL="604231" indent="-302116" lvl="1">
              <a:lnSpc>
                <a:spcPts val="3918"/>
              </a:lnSpc>
              <a:buAutoNum type="arabicPeriod" startAt="1"/>
            </a:pPr>
            <a:r>
              <a:rPr lang="en-US" sz="279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 (Network).</a:t>
            </a:r>
          </a:p>
          <a:p>
            <a:pPr algn="l">
              <a:lnSpc>
                <a:spcPts val="349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322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5443309" y="4948612"/>
            <a:ext cx="5689382" cy="5225239"/>
            <a:chOff x="0" y="0"/>
            <a:chExt cx="3940215" cy="3618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0215" cy="3618770"/>
            </a:xfrm>
            <a:custGeom>
              <a:avLst/>
              <a:gdLst/>
              <a:ahLst/>
              <a:cxnLst/>
              <a:rect r="r" b="b" t="t" l="l"/>
              <a:pathLst>
                <a:path h="3618770" w="3940215">
                  <a:moveTo>
                    <a:pt x="0" y="0"/>
                  </a:moveTo>
                  <a:lnTo>
                    <a:pt x="3940215" y="0"/>
                  </a:lnTo>
                  <a:lnTo>
                    <a:pt x="3940215" y="3618770"/>
                  </a:lnTo>
                  <a:lnTo>
                    <a:pt x="0" y="361877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40215" cy="365687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177779" y="439837"/>
            <a:ext cx="3123056" cy="2975850"/>
            <a:chOff x="0" y="0"/>
            <a:chExt cx="2162891" cy="2060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2891" cy="2060943"/>
            </a:xfrm>
            <a:custGeom>
              <a:avLst/>
              <a:gdLst/>
              <a:ahLst/>
              <a:cxnLst/>
              <a:rect r="r" b="b" t="t" l="l"/>
              <a:pathLst>
                <a:path h="2060943" w="2162891">
                  <a:moveTo>
                    <a:pt x="0" y="0"/>
                  </a:moveTo>
                  <a:lnTo>
                    <a:pt x="2162891" y="0"/>
                  </a:lnTo>
                  <a:lnTo>
                    <a:pt x="2162891" y="2060943"/>
                  </a:lnTo>
                  <a:lnTo>
                    <a:pt x="0" y="206094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62891" cy="2099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5695767" y="-237631"/>
            <a:ext cx="3710433" cy="3672687"/>
            <a:chOff x="0" y="0"/>
            <a:chExt cx="2569682" cy="2543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9682" cy="2543541"/>
            </a:xfrm>
            <a:custGeom>
              <a:avLst/>
              <a:gdLst/>
              <a:ahLst/>
              <a:cxnLst/>
              <a:rect r="r" b="b" t="t" l="l"/>
              <a:pathLst>
                <a:path h="2543541" w="2569682">
                  <a:moveTo>
                    <a:pt x="0" y="0"/>
                  </a:moveTo>
                  <a:lnTo>
                    <a:pt x="2569682" y="0"/>
                  </a:lnTo>
                  <a:lnTo>
                    <a:pt x="2569682" y="2543541"/>
                  </a:lnTo>
                  <a:lnTo>
                    <a:pt x="0" y="2543541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9682" cy="2581641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72713" y="7255451"/>
            <a:ext cx="4444778" cy="4399562"/>
            <a:chOff x="0" y="0"/>
            <a:chExt cx="3078258" cy="3046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78258" cy="3046943"/>
            </a:xfrm>
            <a:custGeom>
              <a:avLst/>
              <a:gdLst/>
              <a:ahLst/>
              <a:cxnLst/>
              <a:rect r="r" b="b" t="t" l="l"/>
              <a:pathLst>
                <a:path h="3046943" w="3078258">
                  <a:moveTo>
                    <a:pt x="0" y="0"/>
                  </a:moveTo>
                  <a:lnTo>
                    <a:pt x="3078258" y="0"/>
                  </a:lnTo>
                  <a:lnTo>
                    <a:pt x="3078258" y="3046943"/>
                  </a:lnTo>
                  <a:lnTo>
                    <a:pt x="0" y="304694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78258" cy="3085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14473524" y="3216887"/>
            <a:ext cx="2392158" cy="2367822"/>
            <a:chOff x="0" y="0"/>
            <a:chExt cx="1656703" cy="1639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6703" cy="1639849"/>
            </a:xfrm>
            <a:custGeom>
              <a:avLst/>
              <a:gdLst/>
              <a:ahLst/>
              <a:cxnLst/>
              <a:rect r="r" b="b" t="t" l="l"/>
              <a:pathLst>
                <a:path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699999">
            <a:off x="-2233903" y="2801262"/>
            <a:ext cx="4544006" cy="4497780"/>
            <a:chOff x="0" y="0"/>
            <a:chExt cx="3146978" cy="3114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6978" cy="3114964"/>
            </a:xfrm>
            <a:custGeom>
              <a:avLst/>
              <a:gdLst/>
              <a:ahLst/>
              <a:cxnLst/>
              <a:rect r="r" b="b" t="t" l="l"/>
              <a:pathLst>
                <a:path h="3114964" w="3146978">
                  <a:moveTo>
                    <a:pt x="0" y="0"/>
                  </a:moveTo>
                  <a:lnTo>
                    <a:pt x="3146978" y="0"/>
                  </a:lnTo>
                  <a:lnTo>
                    <a:pt x="3146978" y="3114964"/>
                  </a:lnTo>
                  <a:lnTo>
                    <a:pt x="0" y="311496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6978" cy="315306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486217" y="493351"/>
            <a:ext cx="9320629" cy="60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2"/>
              </a:lnSpc>
              <a:spcBef>
                <a:spcPct val="0"/>
              </a:spcBef>
            </a:pPr>
            <a:r>
              <a:rPr lang="en-US" b="true" sz="3572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Local Market Insights for Cost Estimation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95596" y="1284314"/>
            <a:ext cx="102945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Key Findings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01670" y="1989164"/>
            <a:ext cx="9903710" cy="155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601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ices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s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igni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nt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by veh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ic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</a:p>
          <a:p>
            <a:pPr algn="l" marL="642601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ectr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cal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om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nen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ar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freque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tly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replace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</a:p>
          <a:p>
            <a:pPr algn="l" marL="642601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ac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st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ardi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z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 p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ici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er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9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44877" y="4653971"/>
            <a:ext cx="9678418" cy="58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6"/>
              </a:lnSpc>
              <a:spcBef>
                <a:spcPct val="0"/>
              </a:spcBef>
            </a:pPr>
            <a:r>
              <a:rPr lang="en-US" b="true" sz="33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Suggested System</a:t>
            </a:r>
            <a:r>
              <a:rPr lang="en-US" b="true" sz="33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Integration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6217" y="5814045"/>
            <a:ext cx="7795736" cy="207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612" indent="-322306" lvl="1">
              <a:lnSpc>
                <a:spcPts val="4179"/>
              </a:lnSpc>
              <a:buFont typeface="Arial"/>
              <a:buChar char="•"/>
            </a:pPr>
            <a:r>
              <a:rPr lang="en-US" sz="298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Use verified local pricing sources</a:t>
            </a:r>
          </a:p>
          <a:p>
            <a:pPr algn="l" marL="644612" indent="-322306" lvl="1">
              <a:lnSpc>
                <a:spcPts val="4179"/>
              </a:lnSpc>
              <a:buFont typeface="Arial"/>
              <a:buChar char="•"/>
            </a:pPr>
            <a:r>
              <a:rPr lang="en-US" sz="298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Map fault codes → affected components</a:t>
            </a:r>
          </a:p>
          <a:p>
            <a:pPr algn="l" marL="644612" indent="-322306" lvl="1">
              <a:lnSpc>
                <a:spcPts val="4179"/>
              </a:lnSpc>
              <a:buFont typeface="Arial"/>
              <a:buChar char="•"/>
            </a:pPr>
            <a:r>
              <a:rPr lang="en-US" sz="298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Generate estimated repair cost ranges</a:t>
            </a:r>
          </a:p>
          <a:p>
            <a:pPr algn="l">
              <a:lnSpc>
                <a:spcPts val="41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84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05094" y="1282275"/>
            <a:ext cx="11833730" cy="69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5447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Team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Fi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l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or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k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&amp; I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nter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v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5447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ews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8352023"/>
            <a:ext cx="4221666" cy="143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9450" indent="-359725" lvl="1">
              <a:lnSpc>
                <a:spcPts val="3765"/>
              </a:lnSpc>
              <a:buAutoNum type="arabicPeriod" startAt="1"/>
            </a:pPr>
            <a:r>
              <a:rPr lang="en-US" b="true" sz="3332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Mechanic</a:t>
            </a:r>
            <a:r>
              <a:rPr lang="en-US" b="true" sz="3332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Interviews </a:t>
            </a:r>
            <a:r>
              <a:rPr lang="en-US" b="true" sz="3332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–</a:t>
            </a:r>
            <a:r>
              <a:rPr lang="en-US" b="true" sz="3332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Molyko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56662" y="8431487"/>
            <a:ext cx="4896390" cy="144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024" indent="-360512" lvl="1">
              <a:lnSpc>
                <a:spcPts val="3773"/>
              </a:lnSpc>
              <a:buAutoNum type="arabicPeriod" startAt="1"/>
            </a:pPr>
            <a:r>
              <a:rPr lang="en-US" b="true" sz="3339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Mechanic Interviews – Malingo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43504" y="2130907"/>
            <a:ext cx="7239072" cy="7239072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8404" y="2150151"/>
            <a:ext cx="7218078" cy="7218078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24464" y="2130907"/>
            <a:ext cx="7239072" cy="7239072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925306" y="8580113"/>
            <a:ext cx="5543393" cy="99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847" indent="-379423" lvl="1">
              <a:lnSpc>
                <a:spcPts val="3971"/>
              </a:lnSpc>
              <a:buAutoNum type="arabicPeriod" startAt="1"/>
            </a:pPr>
            <a:r>
              <a:rPr lang="en-US" b="true" sz="3514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Spar</a:t>
            </a:r>
            <a:r>
              <a:rPr lang="en-US" b="true" sz="3514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 Parts Dealers – Molyko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322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5443309" y="4948612"/>
            <a:ext cx="5689382" cy="5225239"/>
            <a:chOff x="0" y="0"/>
            <a:chExt cx="3940215" cy="3618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0215" cy="3618770"/>
            </a:xfrm>
            <a:custGeom>
              <a:avLst/>
              <a:gdLst/>
              <a:ahLst/>
              <a:cxnLst/>
              <a:rect r="r" b="b" t="t" l="l"/>
              <a:pathLst>
                <a:path h="3618770" w="3940215">
                  <a:moveTo>
                    <a:pt x="0" y="0"/>
                  </a:moveTo>
                  <a:lnTo>
                    <a:pt x="3940215" y="0"/>
                  </a:lnTo>
                  <a:lnTo>
                    <a:pt x="3940215" y="3618770"/>
                  </a:lnTo>
                  <a:lnTo>
                    <a:pt x="0" y="361877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40215" cy="365687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177779" y="439837"/>
            <a:ext cx="3123056" cy="2975850"/>
            <a:chOff x="0" y="0"/>
            <a:chExt cx="2162891" cy="2060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2891" cy="2060943"/>
            </a:xfrm>
            <a:custGeom>
              <a:avLst/>
              <a:gdLst/>
              <a:ahLst/>
              <a:cxnLst/>
              <a:rect r="r" b="b" t="t" l="l"/>
              <a:pathLst>
                <a:path h="2060943" w="2162891">
                  <a:moveTo>
                    <a:pt x="0" y="0"/>
                  </a:moveTo>
                  <a:lnTo>
                    <a:pt x="2162891" y="0"/>
                  </a:lnTo>
                  <a:lnTo>
                    <a:pt x="2162891" y="2060943"/>
                  </a:lnTo>
                  <a:lnTo>
                    <a:pt x="0" y="206094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62891" cy="2099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5695767" y="-237631"/>
            <a:ext cx="3710433" cy="3672687"/>
            <a:chOff x="0" y="0"/>
            <a:chExt cx="2569682" cy="2543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9682" cy="2543541"/>
            </a:xfrm>
            <a:custGeom>
              <a:avLst/>
              <a:gdLst/>
              <a:ahLst/>
              <a:cxnLst/>
              <a:rect r="r" b="b" t="t" l="l"/>
              <a:pathLst>
                <a:path h="2543541" w="2569682">
                  <a:moveTo>
                    <a:pt x="0" y="0"/>
                  </a:moveTo>
                  <a:lnTo>
                    <a:pt x="2569682" y="0"/>
                  </a:lnTo>
                  <a:lnTo>
                    <a:pt x="2569682" y="2543541"/>
                  </a:lnTo>
                  <a:lnTo>
                    <a:pt x="0" y="2543541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9682" cy="2581641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72713" y="7255451"/>
            <a:ext cx="4444778" cy="4399562"/>
            <a:chOff x="0" y="0"/>
            <a:chExt cx="3078258" cy="3046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78258" cy="3046943"/>
            </a:xfrm>
            <a:custGeom>
              <a:avLst/>
              <a:gdLst/>
              <a:ahLst/>
              <a:cxnLst/>
              <a:rect r="r" b="b" t="t" l="l"/>
              <a:pathLst>
                <a:path h="3046943" w="3078258">
                  <a:moveTo>
                    <a:pt x="0" y="0"/>
                  </a:moveTo>
                  <a:lnTo>
                    <a:pt x="3078258" y="0"/>
                  </a:lnTo>
                  <a:lnTo>
                    <a:pt x="3078258" y="3046943"/>
                  </a:lnTo>
                  <a:lnTo>
                    <a:pt x="0" y="304694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78258" cy="308504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14473524" y="3216887"/>
            <a:ext cx="2392158" cy="2367822"/>
            <a:chOff x="0" y="0"/>
            <a:chExt cx="1656703" cy="1639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6703" cy="1639849"/>
            </a:xfrm>
            <a:custGeom>
              <a:avLst/>
              <a:gdLst/>
              <a:ahLst/>
              <a:cxnLst/>
              <a:rect r="r" b="b" t="t" l="l"/>
              <a:pathLst>
                <a:path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699999">
            <a:off x="-2233903" y="2801262"/>
            <a:ext cx="4544006" cy="4497780"/>
            <a:chOff x="0" y="0"/>
            <a:chExt cx="3146978" cy="3114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6978" cy="3114964"/>
            </a:xfrm>
            <a:custGeom>
              <a:avLst/>
              <a:gdLst/>
              <a:ahLst/>
              <a:cxnLst/>
              <a:rect r="r" b="b" t="t" l="l"/>
              <a:pathLst>
                <a:path h="3114964" w="3146978">
                  <a:moveTo>
                    <a:pt x="0" y="0"/>
                  </a:moveTo>
                  <a:lnTo>
                    <a:pt x="3146978" y="0"/>
                  </a:lnTo>
                  <a:lnTo>
                    <a:pt x="3146978" y="3114964"/>
                  </a:lnTo>
                  <a:lnTo>
                    <a:pt x="0" y="311496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6978" cy="315306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22048" y="474301"/>
            <a:ext cx="7448967" cy="82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  <a:spcBef>
                <a:spcPct val="0"/>
              </a:spcBef>
            </a:pPr>
            <a:r>
              <a:rPr lang="en-US" b="true" sz="4872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Challenges Encoun</a:t>
            </a:r>
            <a:r>
              <a:rPr lang="en-US" b="true" sz="4872">
                <a:solidFill>
                  <a:srgbClr val="00006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tered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46144" y="1947026"/>
            <a:ext cx="102945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Several challenges were experienced during the requirement gathering process: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82417" y="3645180"/>
            <a:ext cx="9903710" cy="279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</a:p>
          <a:p>
            <a:pPr algn="l" marL="577833" indent="-288916" lvl="1">
              <a:lnSpc>
                <a:spcPts val="3746"/>
              </a:lnSpc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Difficulty accessing car parts dealers for local pricing information</a:t>
            </a:r>
          </a:p>
          <a:p>
            <a:pPr algn="l" marL="577833" indent="-288916" lvl="1">
              <a:lnSpc>
                <a:spcPts val="3746"/>
              </a:lnSpc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Limited access to commercial automotive APIs</a:t>
            </a:r>
          </a:p>
          <a:p>
            <a:pPr algn="l" marL="577833" indent="-288916" lvl="1">
              <a:lnSpc>
                <a:spcPts val="3746"/>
              </a:lnSpc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Variations in diagnostic information across different vehicle brands.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08278" y="6959637"/>
            <a:ext cx="9678418" cy="114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Despite these challenges,</a:t>
            </a:r>
            <a:r>
              <a:rPr lang="en-US" sz="329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valuable insights were obtained that shaped the direction of the project.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30940"/>
            <a:ext cx="10747629" cy="152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1881"/>
              </a:lnSpc>
              <a:spcBef>
                <a:spcPct val="0"/>
              </a:spcBef>
            </a:pPr>
            <a:r>
              <a:rPr lang="en-US" sz="10608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52836"/>
            <a:ext cx="10747629" cy="15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1881"/>
              </a:lnSpc>
              <a:spcBef>
                <a:spcPct val="0"/>
              </a:spcBef>
            </a:pPr>
            <a:r>
              <a:rPr lang="en-US" b="true" sz="10608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you</a:t>
            </a: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57279" y="1505970"/>
            <a:ext cx="5365403" cy="536540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1028700"/>
            <a:ext cx="3039142" cy="881440"/>
            <a:chOff x="0" y="0"/>
            <a:chExt cx="928909" cy="2694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8909" cy="269411"/>
            </a:xfrm>
            <a:custGeom>
              <a:avLst/>
              <a:gdLst/>
              <a:ahLst/>
              <a:cxnLst/>
              <a:rect r="r" b="b" t="t" l="l"/>
              <a:pathLst>
                <a:path h="269411" w="928909">
                  <a:moveTo>
                    <a:pt x="0" y="0"/>
                  </a:moveTo>
                  <a:lnTo>
                    <a:pt x="928909" y="0"/>
                  </a:lnTo>
                  <a:lnTo>
                    <a:pt x="928909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8909" cy="307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1182120"/>
            <a:ext cx="3039142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NEXT PHASE: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53001" y="2323000"/>
            <a:ext cx="6684586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Requirement 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DAHII7UFcRI</dc:identifier>
  <dcterms:modified xsi:type="dcterms:W3CDTF">2011-08-01T06:04:30Z</dcterms:modified>
  <cp:revision>1</cp:revision>
  <dc:title>Borcelle</dc:title>
</cp:coreProperties>
</file>