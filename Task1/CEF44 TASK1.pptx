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rial MT Pro Bold" charset="1" panose="020B0802020202020204"/>
      <p:regular r:id="rId20"/>
    </p:embeddedFont>
    <p:embeddedFont>
      <p:font typeface="Arial MT Pro" charset="1" panose="020B0502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2975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383774">
            <a:off x="7565571" y="197405"/>
            <a:ext cx="11226909" cy="14341591"/>
            <a:chOff x="0" y="0"/>
            <a:chExt cx="2956881" cy="3777209"/>
          </a:xfrm>
        </p:grpSpPr>
        <p:sp>
          <p:nvSpPr>
            <p:cNvPr name="Freeform 4" id="4"/>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5" id="5"/>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6" id="6"/>
          <p:cNvGrpSpPr/>
          <p:nvPr/>
        </p:nvGrpSpPr>
        <p:grpSpPr>
          <a:xfrm rot="1383774">
            <a:off x="7012072" y="108644"/>
            <a:ext cx="10773748" cy="14341591"/>
            <a:chOff x="0" y="0"/>
            <a:chExt cx="2837530" cy="3777209"/>
          </a:xfrm>
        </p:grpSpPr>
        <p:sp>
          <p:nvSpPr>
            <p:cNvPr name="Freeform 7" id="7"/>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8" id="8"/>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sp>
        <p:nvSpPr>
          <p:cNvPr name="Freeform 9" id="9"/>
          <p:cNvSpPr/>
          <p:nvPr/>
        </p:nvSpPr>
        <p:spPr>
          <a:xfrm flipH="false" flipV="false" rot="0">
            <a:off x="5778374" y="-281605"/>
            <a:ext cx="16610658" cy="9539905"/>
          </a:xfrm>
          <a:custGeom>
            <a:avLst/>
            <a:gdLst/>
            <a:ahLst/>
            <a:cxnLst/>
            <a:rect r="r" b="b" t="t" l="l"/>
            <a:pathLst>
              <a:path h="9539905" w="16610658">
                <a:moveTo>
                  <a:pt x="0" y="0"/>
                </a:moveTo>
                <a:lnTo>
                  <a:pt x="16610659" y="0"/>
                </a:lnTo>
                <a:lnTo>
                  <a:pt x="16610659" y="9539905"/>
                </a:lnTo>
                <a:lnTo>
                  <a:pt x="0" y="9539905"/>
                </a:lnTo>
                <a:lnTo>
                  <a:pt x="0" y="0"/>
                </a:lnTo>
                <a:close/>
              </a:path>
            </a:pathLst>
          </a:custGeom>
          <a:blipFill>
            <a:blip r:embed="rId4"/>
            <a:stretch>
              <a:fillRect l="0" t="0" r="0" b="0"/>
            </a:stretch>
          </a:blipFill>
        </p:spPr>
      </p:sp>
      <p:sp>
        <p:nvSpPr>
          <p:cNvPr name="TextBox 10" id="10"/>
          <p:cNvSpPr txBox="true"/>
          <p:nvPr/>
        </p:nvSpPr>
        <p:spPr>
          <a:xfrm rot="0">
            <a:off x="1028700" y="1985302"/>
            <a:ext cx="10073057" cy="4421998"/>
          </a:xfrm>
          <a:prstGeom prst="rect">
            <a:avLst/>
          </a:prstGeom>
        </p:spPr>
        <p:txBody>
          <a:bodyPr anchor="t" rtlCol="false" tIns="0" lIns="0" bIns="0" rIns="0">
            <a:spAutoFit/>
          </a:bodyPr>
          <a:lstStyle/>
          <a:p>
            <a:pPr algn="l">
              <a:lnSpc>
                <a:spcPts val="10716"/>
              </a:lnSpc>
            </a:pPr>
            <a:r>
              <a:rPr lang="en-US" sz="12177" spc="-194" b="true">
                <a:solidFill>
                  <a:srgbClr val="FFFFFF"/>
                </a:solidFill>
                <a:latin typeface="Arial MT Pro Bold"/>
                <a:ea typeface="Arial MT Pro Bold"/>
                <a:cs typeface="Arial MT Pro Bold"/>
                <a:sym typeface="Arial MT Pro Bold"/>
              </a:rPr>
              <a:t>Mobile and Internet Programing</a:t>
            </a:r>
          </a:p>
        </p:txBody>
      </p:sp>
      <p:sp>
        <p:nvSpPr>
          <p:cNvPr name="TextBox 11" id="11"/>
          <p:cNvSpPr txBox="true"/>
          <p:nvPr/>
        </p:nvSpPr>
        <p:spPr>
          <a:xfrm rot="0">
            <a:off x="1028700" y="6445400"/>
            <a:ext cx="2587398" cy="536299"/>
          </a:xfrm>
          <a:prstGeom prst="rect">
            <a:avLst/>
          </a:prstGeom>
        </p:spPr>
        <p:txBody>
          <a:bodyPr anchor="t" rtlCol="false" tIns="0" lIns="0" bIns="0" rIns="0">
            <a:spAutoFit/>
          </a:bodyPr>
          <a:lstStyle/>
          <a:p>
            <a:pPr algn="l">
              <a:lnSpc>
                <a:spcPts val="3362"/>
              </a:lnSpc>
            </a:pPr>
            <a:r>
              <a:rPr lang="en-US" sz="3821">
                <a:solidFill>
                  <a:srgbClr val="FFFFFF"/>
                </a:solidFill>
                <a:latin typeface="Arial MT Pro"/>
                <a:ea typeface="Arial MT Pro"/>
                <a:cs typeface="Arial MT Pro"/>
                <a:sym typeface="Arial MT Pro"/>
              </a:rPr>
              <a:t>Group 17</a:t>
            </a:r>
          </a:p>
        </p:txBody>
      </p:sp>
      <p:sp>
        <p:nvSpPr>
          <p:cNvPr name="TextBox 12" id="12"/>
          <p:cNvSpPr txBox="true"/>
          <p:nvPr/>
        </p:nvSpPr>
        <p:spPr>
          <a:xfrm rot="0">
            <a:off x="1028700" y="7317539"/>
            <a:ext cx="2587398" cy="536299"/>
          </a:xfrm>
          <a:prstGeom prst="rect">
            <a:avLst/>
          </a:prstGeom>
        </p:spPr>
        <p:txBody>
          <a:bodyPr anchor="t" rtlCol="false" tIns="0" lIns="0" bIns="0" rIns="0">
            <a:spAutoFit/>
          </a:bodyPr>
          <a:lstStyle/>
          <a:p>
            <a:pPr algn="l">
              <a:lnSpc>
                <a:spcPts val="3362"/>
              </a:lnSpc>
            </a:pPr>
            <a:r>
              <a:rPr lang="en-US" sz="3821">
                <a:solidFill>
                  <a:srgbClr val="FFFFFF"/>
                </a:solidFill>
                <a:latin typeface="Arial MT Pro"/>
                <a:ea typeface="Arial MT Pro"/>
                <a:cs typeface="Arial MT Pro"/>
                <a:sym typeface="Arial MT Pro"/>
              </a:rPr>
              <a:t>CEF440</a:t>
            </a:r>
          </a:p>
        </p:txBody>
      </p:sp>
      <p:sp>
        <p:nvSpPr>
          <p:cNvPr name="TextBox 13" id="13"/>
          <p:cNvSpPr txBox="true"/>
          <p:nvPr/>
        </p:nvSpPr>
        <p:spPr>
          <a:xfrm rot="0">
            <a:off x="1028700" y="8187213"/>
            <a:ext cx="8115300" cy="536299"/>
          </a:xfrm>
          <a:prstGeom prst="rect">
            <a:avLst/>
          </a:prstGeom>
        </p:spPr>
        <p:txBody>
          <a:bodyPr anchor="t" rtlCol="false" tIns="0" lIns="0" bIns="0" rIns="0">
            <a:spAutoFit/>
          </a:bodyPr>
          <a:lstStyle/>
          <a:p>
            <a:pPr algn="l">
              <a:lnSpc>
                <a:spcPts val="3362"/>
              </a:lnSpc>
            </a:pPr>
            <a:r>
              <a:rPr lang="en-US" sz="3821">
                <a:solidFill>
                  <a:srgbClr val="FFFFFF"/>
                </a:solidFill>
                <a:latin typeface="Arial MT Pro"/>
                <a:ea typeface="Arial MT Pro"/>
                <a:cs typeface="Arial MT Pro"/>
                <a:sym typeface="Arial MT Pro"/>
              </a:rPr>
              <a:t>Instructor: Dr NKEMINI VALERY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41519">
                <a:alpha val="0"/>
              </a:srgbClr>
            </a:gs>
            <a:gs pos="100000">
              <a:srgbClr val="141519">
                <a:alpha val="57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4011154">
            <a:off x="14044924" y="1464134"/>
            <a:ext cx="17403374" cy="18180272"/>
            <a:chOff x="0" y="0"/>
            <a:chExt cx="4583605" cy="4788220"/>
          </a:xfrm>
        </p:grpSpPr>
        <p:sp>
          <p:nvSpPr>
            <p:cNvPr name="Freeform 3" id="3"/>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solidFill>
              <a:srgbClr val="84B0CE"/>
            </a:solidFill>
          </p:spPr>
        </p:sp>
        <p:sp>
          <p:nvSpPr>
            <p:cNvPr name="TextBox 4" id="4"/>
            <p:cNvSpPr txBox="true"/>
            <p:nvPr/>
          </p:nvSpPr>
          <p:spPr>
            <a:xfrm>
              <a:off x="0" y="19050"/>
              <a:ext cx="4583605" cy="4769170"/>
            </a:xfrm>
            <a:prstGeom prst="rect">
              <a:avLst/>
            </a:prstGeom>
          </p:spPr>
          <p:txBody>
            <a:bodyPr anchor="ctr" rtlCol="false" tIns="50800" lIns="50800" bIns="50800" rIns="50800"/>
            <a:lstStyle/>
            <a:p>
              <a:pPr algn="ctr">
                <a:lnSpc>
                  <a:spcPts val="1387"/>
                </a:lnSpc>
              </a:pPr>
            </a:p>
          </p:txBody>
        </p:sp>
      </p:grpSp>
      <p:grpSp>
        <p:nvGrpSpPr>
          <p:cNvPr name="Group 5" id="5"/>
          <p:cNvGrpSpPr/>
          <p:nvPr/>
        </p:nvGrpSpPr>
        <p:grpSpPr>
          <a:xfrm rot="0">
            <a:off x="309091" y="1725167"/>
            <a:ext cx="6514556" cy="7484414"/>
            <a:chOff x="0" y="0"/>
            <a:chExt cx="812800" cy="933806"/>
          </a:xfrm>
        </p:grpSpPr>
        <p:sp>
          <p:nvSpPr>
            <p:cNvPr name="Freeform 6" id="6"/>
            <p:cNvSpPr/>
            <p:nvPr/>
          </p:nvSpPr>
          <p:spPr>
            <a:xfrm flipH="false" flipV="false" rot="0">
              <a:off x="0" y="0"/>
              <a:ext cx="812800" cy="933806"/>
            </a:xfrm>
            <a:custGeom>
              <a:avLst/>
              <a:gdLst/>
              <a:ahLst/>
              <a:cxnLst/>
              <a:rect r="r" b="b" t="t" l="l"/>
              <a:pathLst>
                <a:path h="933806" w="812800">
                  <a:moveTo>
                    <a:pt x="58232" y="0"/>
                  </a:moveTo>
                  <a:lnTo>
                    <a:pt x="754568" y="0"/>
                  </a:lnTo>
                  <a:cubicBezTo>
                    <a:pt x="770012" y="0"/>
                    <a:pt x="784824" y="6135"/>
                    <a:pt x="795744" y="17056"/>
                  </a:cubicBezTo>
                  <a:cubicBezTo>
                    <a:pt x="806665" y="27976"/>
                    <a:pt x="812800" y="42788"/>
                    <a:pt x="812800" y="58232"/>
                  </a:cubicBezTo>
                  <a:lnTo>
                    <a:pt x="812800" y="875574"/>
                  </a:lnTo>
                  <a:cubicBezTo>
                    <a:pt x="812800" y="891018"/>
                    <a:pt x="806665" y="905830"/>
                    <a:pt x="795744" y="916750"/>
                  </a:cubicBezTo>
                  <a:cubicBezTo>
                    <a:pt x="784824" y="927671"/>
                    <a:pt x="770012" y="933806"/>
                    <a:pt x="754568" y="933806"/>
                  </a:cubicBezTo>
                  <a:lnTo>
                    <a:pt x="58232" y="933806"/>
                  </a:lnTo>
                  <a:cubicBezTo>
                    <a:pt x="42788" y="933806"/>
                    <a:pt x="27976" y="927671"/>
                    <a:pt x="17056" y="916750"/>
                  </a:cubicBezTo>
                  <a:cubicBezTo>
                    <a:pt x="6135" y="905830"/>
                    <a:pt x="0" y="891018"/>
                    <a:pt x="0" y="875574"/>
                  </a:cubicBezTo>
                  <a:lnTo>
                    <a:pt x="0" y="58232"/>
                  </a:lnTo>
                  <a:cubicBezTo>
                    <a:pt x="0" y="42788"/>
                    <a:pt x="6135" y="27976"/>
                    <a:pt x="17056" y="17056"/>
                  </a:cubicBezTo>
                  <a:cubicBezTo>
                    <a:pt x="27976" y="6135"/>
                    <a:pt x="42788" y="0"/>
                    <a:pt x="58232" y="0"/>
                  </a:cubicBezTo>
                  <a:close/>
                </a:path>
              </a:pathLst>
            </a:custGeom>
            <a:blipFill>
              <a:blip r:embed="rId2"/>
              <a:stretch>
                <a:fillRect l="-26690" t="0" r="-26690" b="0"/>
              </a:stretch>
            </a:blipFill>
          </p:spPr>
        </p:sp>
      </p:grpSp>
      <p:grpSp>
        <p:nvGrpSpPr>
          <p:cNvPr name="Group 7" id="7"/>
          <p:cNvGrpSpPr/>
          <p:nvPr/>
        </p:nvGrpSpPr>
        <p:grpSpPr>
          <a:xfrm rot="0">
            <a:off x="2054482" y="4949018"/>
            <a:ext cx="5784422" cy="3959411"/>
            <a:chOff x="0" y="0"/>
            <a:chExt cx="1523469" cy="1042808"/>
          </a:xfrm>
        </p:grpSpPr>
        <p:sp>
          <p:nvSpPr>
            <p:cNvPr name="Freeform 8" id="8"/>
            <p:cNvSpPr/>
            <p:nvPr/>
          </p:nvSpPr>
          <p:spPr>
            <a:xfrm flipH="false" flipV="false" rot="0">
              <a:off x="0" y="0"/>
              <a:ext cx="1523469" cy="1042808"/>
            </a:xfrm>
            <a:custGeom>
              <a:avLst/>
              <a:gdLst/>
              <a:ahLst/>
              <a:cxnLst/>
              <a:rect r="r" b="b" t="t" l="l"/>
              <a:pathLst>
                <a:path h="1042808" w="1523469">
                  <a:moveTo>
                    <a:pt x="68259" y="0"/>
                  </a:moveTo>
                  <a:lnTo>
                    <a:pt x="1455210" y="0"/>
                  </a:lnTo>
                  <a:cubicBezTo>
                    <a:pt x="1473314" y="0"/>
                    <a:pt x="1490675" y="7192"/>
                    <a:pt x="1503476" y="19993"/>
                  </a:cubicBezTo>
                  <a:cubicBezTo>
                    <a:pt x="1516278" y="32794"/>
                    <a:pt x="1523469" y="50155"/>
                    <a:pt x="1523469" y="68259"/>
                  </a:cubicBezTo>
                  <a:lnTo>
                    <a:pt x="1523469" y="974549"/>
                  </a:lnTo>
                  <a:cubicBezTo>
                    <a:pt x="1523469" y="1012247"/>
                    <a:pt x="1492908" y="1042808"/>
                    <a:pt x="1455210" y="1042808"/>
                  </a:cubicBezTo>
                  <a:lnTo>
                    <a:pt x="68259" y="1042808"/>
                  </a:lnTo>
                  <a:cubicBezTo>
                    <a:pt x="50155" y="1042808"/>
                    <a:pt x="32794" y="1035616"/>
                    <a:pt x="19993" y="1022815"/>
                  </a:cubicBezTo>
                  <a:cubicBezTo>
                    <a:pt x="7192" y="1010014"/>
                    <a:pt x="0" y="992652"/>
                    <a:pt x="0" y="974549"/>
                  </a:cubicBezTo>
                  <a:lnTo>
                    <a:pt x="0" y="68259"/>
                  </a:lnTo>
                  <a:cubicBezTo>
                    <a:pt x="0" y="30561"/>
                    <a:pt x="30561" y="0"/>
                    <a:pt x="68259" y="0"/>
                  </a:cubicBezTo>
                  <a:close/>
                </a:path>
              </a:pathLst>
            </a:custGeom>
            <a:gradFill rotWithShape="true">
              <a:gsLst>
                <a:gs pos="0">
                  <a:srgbClr val="141519">
                    <a:alpha val="0"/>
                  </a:srgbClr>
                </a:gs>
                <a:gs pos="100000">
                  <a:srgbClr val="141519">
                    <a:alpha val="57000"/>
                  </a:srgbClr>
                </a:gs>
              </a:gsLst>
              <a:lin ang="5400000"/>
            </a:gradFill>
          </p:spPr>
        </p:sp>
        <p:sp>
          <p:nvSpPr>
            <p:cNvPr name="TextBox 9" id="9"/>
            <p:cNvSpPr txBox="true"/>
            <p:nvPr/>
          </p:nvSpPr>
          <p:spPr>
            <a:xfrm>
              <a:off x="0" y="19050"/>
              <a:ext cx="1523469" cy="1023758"/>
            </a:xfrm>
            <a:prstGeom prst="rect">
              <a:avLst/>
            </a:prstGeom>
          </p:spPr>
          <p:txBody>
            <a:bodyPr anchor="ctr" rtlCol="false" tIns="50800" lIns="50800" bIns="50800" rIns="50800"/>
            <a:lstStyle/>
            <a:p>
              <a:pPr algn="ctr">
                <a:lnSpc>
                  <a:spcPts val="1387"/>
                </a:lnSpc>
              </a:pPr>
            </a:p>
          </p:txBody>
        </p:sp>
      </p:grpSp>
      <p:grpSp>
        <p:nvGrpSpPr>
          <p:cNvPr name="Group 10" id="10"/>
          <p:cNvGrpSpPr/>
          <p:nvPr/>
        </p:nvGrpSpPr>
        <p:grpSpPr>
          <a:xfrm rot="0">
            <a:off x="7641197" y="2262850"/>
            <a:ext cx="7985564" cy="1350752"/>
            <a:chOff x="0" y="0"/>
            <a:chExt cx="1463833" cy="247606"/>
          </a:xfrm>
        </p:grpSpPr>
        <p:sp>
          <p:nvSpPr>
            <p:cNvPr name="Freeform 11" id="11"/>
            <p:cNvSpPr/>
            <p:nvPr/>
          </p:nvSpPr>
          <p:spPr>
            <a:xfrm flipH="false" flipV="false" rot="0">
              <a:off x="0" y="0"/>
              <a:ext cx="1463833" cy="247606"/>
            </a:xfrm>
            <a:custGeom>
              <a:avLst/>
              <a:gdLst/>
              <a:ahLst/>
              <a:cxnLst/>
              <a:rect r="r" b="b" t="t" l="l"/>
              <a:pathLst>
                <a:path h="247606" w="1463833">
                  <a:moveTo>
                    <a:pt x="20359" y="0"/>
                  </a:moveTo>
                  <a:lnTo>
                    <a:pt x="1443474" y="0"/>
                  </a:lnTo>
                  <a:cubicBezTo>
                    <a:pt x="1454718" y="0"/>
                    <a:pt x="1463833" y="9115"/>
                    <a:pt x="1463833" y="20359"/>
                  </a:cubicBezTo>
                  <a:lnTo>
                    <a:pt x="1463833" y="227247"/>
                  </a:lnTo>
                  <a:cubicBezTo>
                    <a:pt x="1463833" y="232647"/>
                    <a:pt x="1461688" y="237825"/>
                    <a:pt x="1457870" y="241643"/>
                  </a:cubicBezTo>
                  <a:cubicBezTo>
                    <a:pt x="1454052" y="245461"/>
                    <a:pt x="1448873" y="247606"/>
                    <a:pt x="1443474" y="247606"/>
                  </a:cubicBezTo>
                  <a:lnTo>
                    <a:pt x="20359" y="247606"/>
                  </a:lnTo>
                  <a:cubicBezTo>
                    <a:pt x="14960" y="247606"/>
                    <a:pt x="9781" y="245461"/>
                    <a:pt x="5963" y="241643"/>
                  </a:cubicBezTo>
                  <a:cubicBezTo>
                    <a:pt x="2145" y="237825"/>
                    <a:pt x="0" y="232647"/>
                    <a:pt x="0" y="227247"/>
                  </a:cubicBezTo>
                  <a:lnTo>
                    <a:pt x="0" y="20359"/>
                  </a:lnTo>
                  <a:cubicBezTo>
                    <a:pt x="0" y="14960"/>
                    <a:pt x="2145" y="9781"/>
                    <a:pt x="5963" y="5963"/>
                  </a:cubicBezTo>
                  <a:cubicBezTo>
                    <a:pt x="9781" y="2145"/>
                    <a:pt x="14960" y="0"/>
                    <a:pt x="20359" y="0"/>
                  </a:cubicBezTo>
                  <a:close/>
                </a:path>
              </a:pathLst>
            </a:custGeom>
            <a:solidFill>
              <a:srgbClr val="202127"/>
            </a:solidFill>
          </p:spPr>
        </p:sp>
        <p:sp>
          <p:nvSpPr>
            <p:cNvPr name="TextBox 12" id="12"/>
            <p:cNvSpPr txBox="true"/>
            <p:nvPr/>
          </p:nvSpPr>
          <p:spPr>
            <a:xfrm>
              <a:off x="0" y="19050"/>
              <a:ext cx="1463833" cy="228556"/>
            </a:xfrm>
            <a:prstGeom prst="rect">
              <a:avLst/>
            </a:prstGeom>
          </p:spPr>
          <p:txBody>
            <a:bodyPr anchor="ctr" rtlCol="false" tIns="50800" lIns="50800" bIns="50800" rIns="50800"/>
            <a:lstStyle/>
            <a:p>
              <a:pPr algn="ctr">
                <a:lnSpc>
                  <a:spcPts val="1387"/>
                </a:lnSpc>
              </a:pPr>
            </a:p>
          </p:txBody>
        </p:sp>
      </p:grpSp>
      <p:grpSp>
        <p:nvGrpSpPr>
          <p:cNvPr name="Group 13" id="13"/>
          <p:cNvGrpSpPr/>
          <p:nvPr/>
        </p:nvGrpSpPr>
        <p:grpSpPr>
          <a:xfrm rot="0">
            <a:off x="7641197" y="4329198"/>
            <a:ext cx="7985564" cy="1496727"/>
            <a:chOff x="0" y="0"/>
            <a:chExt cx="1463833" cy="274365"/>
          </a:xfrm>
        </p:grpSpPr>
        <p:sp>
          <p:nvSpPr>
            <p:cNvPr name="Freeform 14" id="14"/>
            <p:cNvSpPr/>
            <p:nvPr/>
          </p:nvSpPr>
          <p:spPr>
            <a:xfrm flipH="false" flipV="false" rot="0">
              <a:off x="0" y="0"/>
              <a:ext cx="1463833" cy="274365"/>
            </a:xfrm>
            <a:custGeom>
              <a:avLst/>
              <a:gdLst/>
              <a:ahLst/>
              <a:cxnLst/>
              <a:rect r="r" b="b" t="t" l="l"/>
              <a:pathLst>
                <a:path h="274365" w="1463833">
                  <a:moveTo>
                    <a:pt x="20359" y="0"/>
                  </a:moveTo>
                  <a:lnTo>
                    <a:pt x="1443474" y="0"/>
                  </a:lnTo>
                  <a:cubicBezTo>
                    <a:pt x="1454718" y="0"/>
                    <a:pt x="1463833" y="9115"/>
                    <a:pt x="1463833" y="20359"/>
                  </a:cubicBezTo>
                  <a:lnTo>
                    <a:pt x="1463833" y="254006"/>
                  </a:lnTo>
                  <a:cubicBezTo>
                    <a:pt x="1463833" y="259405"/>
                    <a:pt x="1461688" y="264584"/>
                    <a:pt x="1457870" y="268402"/>
                  </a:cubicBezTo>
                  <a:cubicBezTo>
                    <a:pt x="1454052" y="272220"/>
                    <a:pt x="1448873" y="274365"/>
                    <a:pt x="1443474" y="274365"/>
                  </a:cubicBezTo>
                  <a:lnTo>
                    <a:pt x="20359" y="274365"/>
                  </a:lnTo>
                  <a:cubicBezTo>
                    <a:pt x="14960" y="274365"/>
                    <a:pt x="9781" y="272220"/>
                    <a:pt x="5963" y="268402"/>
                  </a:cubicBezTo>
                  <a:cubicBezTo>
                    <a:pt x="2145" y="264584"/>
                    <a:pt x="0" y="259405"/>
                    <a:pt x="0" y="254006"/>
                  </a:cubicBezTo>
                  <a:lnTo>
                    <a:pt x="0" y="20359"/>
                  </a:lnTo>
                  <a:cubicBezTo>
                    <a:pt x="0" y="14960"/>
                    <a:pt x="2145" y="9781"/>
                    <a:pt x="5963" y="5963"/>
                  </a:cubicBezTo>
                  <a:cubicBezTo>
                    <a:pt x="9781" y="2145"/>
                    <a:pt x="14960" y="0"/>
                    <a:pt x="20359" y="0"/>
                  </a:cubicBezTo>
                  <a:close/>
                </a:path>
              </a:pathLst>
            </a:custGeom>
            <a:solidFill>
              <a:srgbClr val="202127"/>
            </a:solidFill>
          </p:spPr>
        </p:sp>
        <p:sp>
          <p:nvSpPr>
            <p:cNvPr name="TextBox 15" id="15"/>
            <p:cNvSpPr txBox="true"/>
            <p:nvPr/>
          </p:nvSpPr>
          <p:spPr>
            <a:xfrm>
              <a:off x="0" y="19050"/>
              <a:ext cx="1463833" cy="255315"/>
            </a:xfrm>
            <a:prstGeom prst="rect">
              <a:avLst/>
            </a:prstGeom>
          </p:spPr>
          <p:txBody>
            <a:bodyPr anchor="ctr" rtlCol="false" tIns="50800" lIns="50800" bIns="50800" rIns="50800"/>
            <a:lstStyle/>
            <a:p>
              <a:pPr algn="ctr">
                <a:lnSpc>
                  <a:spcPts val="1387"/>
                </a:lnSpc>
              </a:pPr>
            </a:p>
          </p:txBody>
        </p:sp>
      </p:grpSp>
      <p:sp>
        <p:nvSpPr>
          <p:cNvPr name="TextBox 16" id="16"/>
          <p:cNvSpPr txBox="true"/>
          <p:nvPr/>
        </p:nvSpPr>
        <p:spPr>
          <a:xfrm rot="0">
            <a:off x="1795032" y="930452"/>
            <a:ext cx="2054791" cy="362467"/>
          </a:xfrm>
          <a:prstGeom prst="rect">
            <a:avLst/>
          </a:prstGeom>
        </p:spPr>
        <p:txBody>
          <a:bodyPr anchor="t" rtlCol="false" tIns="0" lIns="0" bIns="0" rIns="0">
            <a:spAutoFit/>
          </a:bodyPr>
          <a:lstStyle/>
          <a:p>
            <a:pPr algn="l">
              <a:lnSpc>
                <a:spcPts val="2267"/>
              </a:lnSpc>
            </a:pPr>
            <a:r>
              <a:rPr lang="en-US" b="true" sz="2576" spc="-41">
                <a:solidFill>
                  <a:srgbClr val="202127"/>
                </a:solidFill>
                <a:latin typeface="Arial MT Pro Bold"/>
                <a:ea typeface="Arial MT Pro Bold"/>
                <a:cs typeface="Arial MT Pro Bold"/>
                <a:sym typeface="Arial MT Pro Bold"/>
              </a:rPr>
              <a:t>Group 17</a:t>
            </a:r>
          </a:p>
        </p:txBody>
      </p:sp>
      <p:sp>
        <p:nvSpPr>
          <p:cNvPr name="TextBox 17" id="17"/>
          <p:cNvSpPr txBox="true"/>
          <p:nvPr/>
        </p:nvSpPr>
        <p:spPr>
          <a:xfrm rot="0">
            <a:off x="8339185" y="2633553"/>
            <a:ext cx="5976270" cy="1086419"/>
          </a:xfrm>
          <a:prstGeom prst="rect">
            <a:avLst/>
          </a:prstGeom>
        </p:spPr>
        <p:txBody>
          <a:bodyPr anchor="t" rtlCol="false" tIns="0" lIns="0" bIns="0" rIns="0">
            <a:spAutoFit/>
          </a:bodyPr>
          <a:lstStyle/>
          <a:p>
            <a:pPr algn="l">
              <a:lnSpc>
                <a:spcPts val="3804"/>
              </a:lnSpc>
            </a:pPr>
            <a:r>
              <a:rPr lang="en-US" sz="4322">
                <a:solidFill>
                  <a:srgbClr val="FFFFFF"/>
                </a:solidFill>
                <a:latin typeface="Arial MT Pro"/>
                <a:ea typeface="Arial MT Pro"/>
                <a:cs typeface="Arial MT Pro"/>
                <a:sym typeface="Arial MT Pro"/>
              </a:rPr>
              <a:t>Overview of Mobile Application</a:t>
            </a:r>
          </a:p>
        </p:txBody>
      </p:sp>
      <p:sp>
        <p:nvSpPr>
          <p:cNvPr name="TextBox 18" id="18"/>
          <p:cNvSpPr txBox="true"/>
          <p:nvPr/>
        </p:nvSpPr>
        <p:spPr>
          <a:xfrm rot="0">
            <a:off x="8339185" y="4699901"/>
            <a:ext cx="5517198" cy="1086419"/>
          </a:xfrm>
          <a:prstGeom prst="rect">
            <a:avLst/>
          </a:prstGeom>
        </p:spPr>
        <p:txBody>
          <a:bodyPr anchor="t" rtlCol="false" tIns="0" lIns="0" bIns="0" rIns="0">
            <a:spAutoFit/>
          </a:bodyPr>
          <a:lstStyle/>
          <a:p>
            <a:pPr algn="l">
              <a:lnSpc>
                <a:spcPts val="3804"/>
              </a:lnSpc>
            </a:pPr>
            <a:r>
              <a:rPr lang="en-US" sz="4322">
                <a:solidFill>
                  <a:srgbClr val="FFFFFF"/>
                </a:solidFill>
                <a:latin typeface="Arial MT Pro"/>
                <a:ea typeface="Arial MT Pro"/>
                <a:cs typeface="Arial MT Pro"/>
                <a:sym typeface="Arial MT Pro"/>
              </a:rPr>
              <a:t>Importance in Mordern systems</a:t>
            </a:r>
          </a:p>
        </p:txBody>
      </p:sp>
      <p:sp>
        <p:nvSpPr>
          <p:cNvPr name="TextBox 19" id="19"/>
          <p:cNvSpPr txBox="true"/>
          <p:nvPr/>
        </p:nvSpPr>
        <p:spPr>
          <a:xfrm rot="0">
            <a:off x="542069" y="7080111"/>
            <a:ext cx="5385492" cy="1038387"/>
          </a:xfrm>
          <a:prstGeom prst="rect">
            <a:avLst/>
          </a:prstGeom>
        </p:spPr>
        <p:txBody>
          <a:bodyPr anchor="t" rtlCol="false" tIns="0" lIns="0" bIns="0" rIns="0">
            <a:spAutoFit/>
          </a:bodyPr>
          <a:lstStyle/>
          <a:p>
            <a:pPr algn="l">
              <a:lnSpc>
                <a:spcPts val="6406"/>
              </a:lnSpc>
            </a:pPr>
            <a:r>
              <a:rPr lang="en-US" sz="7280" spc="-116" b="true">
                <a:solidFill>
                  <a:srgbClr val="27DDDF"/>
                </a:solidFill>
                <a:latin typeface="Arial MT Pro Bold"/>
                <a:ea typeface="Arial MT Pro Bold"/>
                <a:cs typeface="Arial MT Pro Bold"/>
                <a:sym typeface="Arial MT Pro Bold"/>
              </a:rPr>
              <a:t>Introduction</a:t>
            </a:r>
          </a:p>
        </p:txBody>
      </p:sp>
      <p:grpSp>
        <p:nvGrpSpPr>
          <p:cNvPr name="Group 20" id="20"/>
          <p:cNvGrpSpPr/>
          <p:nvPr/>
        </p:nvGrpSpPr>
        <p:grpSpPr>
          <a:xfrm rot="0">
            <a:off x="7641197" y="6435151"/>
            <a:ext cx="7985564" cy="1496727"/>
            <a:chOff x="0" y="0"/>
            <a:chExt cx="1463833" cy="274365"/>
          </a:xfrm>
        </p:grpSpPr>
        <p:sp>
          <p:nvSpPr>
            <p:cNvPr name="Freeform 21" id="21"/>
            <p:cNvSpPr/>
            <p:nvPr/>
          </p:nvSpPr>
          <p:spPr>
            <a:xfrm flipH="false" flipV="false" rot="0">
              <a:off x="0" y="0"/>
              <a:ext cx="1463833" cy="274365"/>
            </a:xfrm>
            <a:custGeom>
              <a:avLst/>
              <a:gdLst/>
              <a:ahLst/>
              <a:cxnLst/>
              <a:rect r="r" b="b" t="t" l="l"/>
              <a:pathLst>
                <a:path h="274365" w="1463833">
                  <a:moveTo>
                    <a:pt x="20359" y="0"/>
                  </a:moveTo>
                  <a:lnTo>
                    <a:pt x="1443474" y="0"/>
                  </a:lnTo>
                  <a:cubicBezTo>
                    <a:pt x="1454718" y="0"/>
                    <a:pt x="1463833" y="9115"/>
                    <a:pt x="1463833" y="20359"/>
                  </a:cubicBezTo>
                  <a:lnTo>
                    <a:pt x="1463833" y="254006"/>
                  </a:lnTo>
                  <a:cubicBezTo>
                    <a:pt x="1463833" y="259405"/>
                    <a:pt x="1461688" y="264584"/>
                    <a:pt x="1457870" y="268402"/>
                  </a:cubicBezTo>
                  <a:cubicBezTo>
                    <a:pt x="1454052" y="272220"/>
                    <a:pt x="1448873" y="274365"/>
                    <a:pt x="1443474" y="274365"/>
                  </a:cubicBezTo>
                  <a:lnTo>
                    <a:pt x="20359" y="274365"/>
                  </a:lnTo>
                  <a:cubicBezTo>
                    <a:pt x="14960" y="274365"/>
                    <a:pt x="9781" y="272220"/>
                    <a:pt x="5963" y="268402"/>
                  </a:cubicBezTo>
                  <a:cubicBezTo>
                    <a:pt x="2145" y="264584"/>
                    <a:pt x="0" y="259405"/>
                    <a:pt x="0" y="254006"/>
                  </a:cubicBezTo>
                  <a:lnTo>
                    <a:pt x="0" y="20359"/>
                  </a:lnTo>
                  <a:cubicBezTo>
                    <a:pt x="0" y="14960"/>
                    <a:pt x="2145" y="9781"/>
                    <a:pt x="5963" y="5963"/>
                  </a:cubicBezTo>
                  <a:cubicBezTo>
                    <a:pt x="9781" y="2145"/>
                    <a:pt x="14960" y="0"/>
                    <a:pt x="20359" y="0"/>
                  </a:cubicBezTo>
                  <a:close/>
                </a:path>
              </a:pathLst>
            </a:custGeom>
            <a:solidFill>
              <a:srgbClr val="202127"/>
            </a:solidFill>
          </p:spPr>
        </p:sp>
        <p:sp>
          <p:nvSpPr>
            <p:cNvPr name="TextBox 22" id="22"/>
            <p:cNvSpPr txBox="true"/>
            <p:nvPr/>
          </p:nvSpPr>
          <p:spPr>
            <a:xfrm>
              <a:off x="0" y="19050"/>
              <a:ext cx="1463833" cy="255315"/>
            </a:xfrm>
            <a:prstGeom prst="rect">
              <a:avLst/>
            </a:prstGeom>
          </p:spPr>
          <p:txBody>
            <a:bodyPr anchor="ctr" rtlCol="false" tIns="50800" lIns="50800" bIns="50800" rIns="50800"/>
            <a:lstStyle/>
            <a:p>
              <a:pPr algn="ctr">
                <a:lnSpc>
                  <a:spcPts val="1387"/>
                </a:lnSpc>
              </a:pPr>
            </a:p>
          </p:txBody>
        </p:sp>
      </p:grpSp>
      <p:sp>
        <p:nvSpPr>
          <p:cNvPr name="TextBox 23" id="23"/>
          <p:cNvSpPr txBox="true"/>
          <p:nvPr/>
        </p:nvSpPr>
        <p:spPr>
          <a:xfrm rot="0">
            <a:off x="8339185" y="6557661"/>
            <a:ext cx="6325647" cy="1560838"/>
          </a:xfrm>
          <a:prstGeom prst="rect">
            <a:avLst/>
          </a:prstGeom>
        </p:spPr>
        <p:txBody>
          <a:bodyPr anchor="t" rtlCol="false" tIns="0" lIns="0" bIns="0" rIns="0">
            <a:spAutoFit/>
          </a:bodyPr>
          <a:lstStyle/>
          <a:p>
            <a:pPr algn="l">
              <a:lnSpc>
                <a:spcPts val="3804"/>
              </a:lnSpc>
            </a:pPr>
            <a:r>
              <a:rPr lang="en-US" sz="4322">
                <a:solidFill>
                  <a:srgbClr val="FFFFFF"/>
                </a:solidFill>
                <a:latin typeface="Arial MT Pro"/>
                <a:ea typeface="Arial MT Pro"/>
                <a:cs typeface="Arial MT Pro"/>
                <a:sym typeface="Arial MT Pro"/>
              </a:rPr>
              <a:t>App typem Languages, Framework and Architecture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5250829"/>
            <a:ext cx="3293766" cy="3657600"/>
            <a:chOff x="0" y="0"/>
            <a:chExt cx="867494" cy="963319"/>
          </a:xfrm>
        </p:grpSpPr>
        <p:sp>
          <p:nvSpPr>
            <p:cNvPr name="Freeform 3" id="3"/>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4" id="4"/>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5" id="5"/>
          <p:cNvGrpSpPr/>
          <p:nvPr/>
        </p:nvGrpSpPr>
        <p:grpSpPr>
          <a:xfrm rot="0">
            <a:off x="2054482" y="2262850"/>
            <a:ext cx="10409926" cy="2638134"/>
            <a:chOff x="0" y="0"/>
            <a:chExt cx="2741709" cy="694817"/>
          </a:xfrm>
        </p:grpSpPr>
        <p:sp>
          <p:nvSpPr>
            <p:cNvPr name="Freeform 6" id="6"/>
            <p:cNvSpPr/>
            <p:nvPr/>
          </p:nvSpPr>
          <p:spPr>
            <a:xfrm flipH="false" flipV="false" rot="0">
              <a:off x="0" y="0"/>
              <a:ext cx="2741709" cy="694817"/>
            </a:xfrm>
            <a:custGeom>
              <a:avLst/>
              <a:gdLst/>
              <a:ahLst/>
              <a:cxnLst/>
              <a:rect r="r" b="b" t="t" l="l"/>
              <a:pathLst>
                <a:path h="694817" w="2741709">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2741709" cy="675767"/>
            </a:xfrm>
            <a:prstGeom prst="rect">
              <a:avLst/>
            </a:prstGeom>
          </p:spPr>
          <p:txBody>
            <a:bodyPr anchor="ctr" rtlCol="false" tIns="50800" lIns="50800" bIns="50800" rIns="50800"/>
            <a:lstStyle/>
            <a:p>
              <a:pPr algn="l">
                <a:lnSpc>
                  <a:spcPts val="1387"/>
                </a:lnSpc>
              </a:pPr>
            </a:p>
          </p:txBody>
        </p:sp>
      </p:grpSp>
      <p:grpSp>
        <p:nvGrpSpPr>
          <p:cNvPr name="Group 8" id="8"/>
          <p:cNvGrpSpPr/>
          <p:nvPr/>
        </p:nvGrpSpPr>
        <p:grpSpPr>
          <a:xfrm rot="0">
            <a:off x="5612562" y="5250829"/>
            <a:ext cx="3293766" cy="3657600"/>
            <a:chOff x="0" y="0"/>
            <a:chExt cx="867494" cy="963319"/>
          </a:xfrm>
        </p:grpSpPr>
        <p:sp>
          <p:nvSpPr>
            <p:cNvPr name="Freeform 9" id="9"/>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0" id="10"/>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1" id="11"/>
          <p:cNvGrpSpPr/>
          <p:nvPr/>
        </p:nvGrpSpPr>
        <p:grpSpPr>
          <a:xfrm rot="0">
            <a:off x="9170642" y="5250829"/>
            <a:ext cx="3293766" cy="3657600"/>
            <a:chOff x="0" y="0"/>
            <a:chExt cx="867494" cy="963319"/>
          </a:xfrm>
        </p:grpSpPr>
        <p:sp>
          <p:nvSpPr>
            <p:cNvPr name="Freeform 12" id="12"/>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3" id="13"/>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4" id="14"/>
          <p:cNvGrpSpPr/>
          <p:nvPr/>
        </p:nvGrpSpPr>
        <p:grpSpPr>
          <a:xfrm rot="0">
            <a:off x="12731108" y="1773375"/>
            <a:ext cx="3541771" cy="7135054"/>
            <a:chOff x="0" y="0"/>
            <a:chExt cx="812800" cy="1637421"/>
          </a:xfrm>
        </p:grpSpPr>
        <p:sp>
          <p:nvSpPr>
            <p:cNvPr name="Freeform 15" id="15"/>
            <p:cNvSpPr/>
            <p:nvPr/>
          </p:nvSpPr>
          <p:spPr>
            <a:xfrm flipH="false" flipV="false" rot="0">
              <a:off x="0" y="0"/>
              <a:ext cx="812800" cy="1637421"/>
            </a:xfrm>
            <a:custGeom>
              <a:avLst/>
              <a:gdLst/>
              <a:ahLst/>
              <a:cxnLst/>
              <a:rect r="r" b="b" t="t" l="l"/>
              <a:pathLst>
                <a:path h="1637421" w="812800">
                  <a:moveTo>
                    <a:pt x="63391" y="0"/>
                  </a:moveTo>
                  <a:lnTo>
                    <a:pt x="749409" y="0"/>
                  </a:lnTo>
                  <a:cubicBezTo>
                    <a:pt x="784419" y="0"/>
                    <a:pt x="812800" y="28381"/>
                    <a:pt x="812800" y="63391"/>
                  </a:cubicBezTo>
                  <a:lnTo>
                    <a:pt x="812800" y="1574031"/>
                  </a:lnTo>
                  <a:cubicBezTo>
                    <a:pt x="812800" y="1609040"/>
                    <a:pt x="784419" y="1637421"/>
                    <a:pt x="749409" y="1637421"/>
                  </a:cubicBezTo>
                  <a:lnTo>
                    <a:pt x="63391" y="1637421"/>
                  </a:lnTo>
                  <a:cubicBezTo>
                    <a:pt x="28381" y="1637421"/>
                    <a:pt x="0" y="1609040"/>
                    <a:pt x="0" y="1574031"/>
                  </a:cubicBezTo>
                  <a:lnTo>
                    <a:pt x="0" y="63391"/>
                  </a:lnTo>
                  <a:cubicBezTo>
                    <a:pt x="0" y="28381"/>
                    <a:pt x="28381" y="0"/>
                    <a:pt x="63391" y="0"/>
                  </a:cubicBezTo>
                  <a:close/>
                </a:path>
              </a:pathLst>
            </a:custGeom>
            <a:blipFill>
              <a:blip r:embed="rId2"/>
              <a:stretch>
                <a:fillRect l="-84476" t="0" r="-84476" b="0"/>
              </a:stretch>
            </a:blipFill>
          </p:spPr>
        </p:sp>
      </p:grpSp>
      <p:sp>
        <p:nvSpPr>
          <p:cNvPr name="TextBox 16" id="16"/>
          <p:cNvSpPr txBox="true"/>
          <p:nvPr/>
        </p:nvSpPr>
        <p:spPr>
          <a:xfrm rot="0">
            <a:off x="1795032" y="930452"/>
            <a:ext cx="190633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17" id="17"/>
          <p:cNvSpPr txBox="true"/>
          <p:nvPr/>
        </p:nvSpPr>
        <p:spPr>
          <a:xfrm rot="0">
            <a:off x="2583650" y="2845267"/>
            <a:ext cx="8454192" cy="756730"/>
          </a:xfrm>
          <a:prstGeom prst="rect">
            <a:avLst/>
          </a:prstGeom>
        </p:spPr>
        <p:txBody>
          <a:bodyPr anchor="t" rtlCol="false" tIns="0" lIns="0" bIns="0" rIns="0">
            <a:spAutoFit/>
          </a:bodyPr>
          <a:lstStyle/>
          <a:p>
            <a:pPr algn="l">
              <a:lnSpc>
                <a:spcPts val="5092"/>
              </a:lnSpc>
            </a:pPr>
            <a:r>
              <a:rPr lang="en-US" sz="4896" spc="-205" b="true">
                <a:solidFill>
                  <a:srgbClr val="FFFFFF"/>
                </a:solidFill>
                <a:latin typeface="Arial MT Pro Bold"/>
                <a:ea typeface="Arial MT Pro Bold"/>
                <a:cs typeface="Arial MT Pro Bold"/>
                <a:sym typeface="Arial MT Pro Bold"/>
              </a:rPr>
              <a:t>Types of Mobile App</a:t>
            </a:r>
          </a:p>
        </p:txBody>
      </p:sp>
      <p:sp>
        <p:nvSpPr>
          <p:cNvPr name="TextBox 18" id="18"/>
          <p:cNvSpPr txBox="true"/>
          <p:nvPr/>
        </p:nvSpPr>
        <p:spPr>
          <a:xfrm rot="0">
            <a:off x="2583650" y="5669260"/>
            <a:ext cx="2374340" cy="547539"/>
          </a:xfrm>
          <a:prstGeom prst="rect">
            <a:avLst/>
          </a:prstGeom>
        </p:spPr>
        <p:txBody>
          <a:bodyPr anchor="t" rtlCol="false" tIns="0" lIns="0" bIns="0" rIns="0">
            <a:spAutoFit/>
          </a:bodyPr>
          <a:lstStyle/>
          <a:p>
            <a:pPr algn="l">
              <a:lnSpc>
                <a:spcPts val="3648"/>
              </a:lnSpc>
            </a:pPr>
            <a:r>
              <a:rPr lang="en-US" sz="3508" spc="-147" b="true">
                <a:solidFill>
                  <a:srgbClr val="FFFFFF"/>
                </a:solidFill>
                <a:latin typeface="Arial MT Pro Bold"/>
                <a:ea typeface="Arial MT Pro Bold"/>
                <a:cs typeface="Arial MT Pro Bold"/>
                <a:sym typeface="Arial MT Pro Bold"/>
              </a:rPr>
              <a:t>Native Apps</a:t>
            </a:r>
          </a:p>
        </p:txBody>
      </p:sp>
      <p:sp>
        <p:nvSpPr>
          <p:cNvPr name="TextBox 19" id="19"/>
          <p:cNvSpPr txBox="true"/>
          <p:nvPr/>
        </p:nvSpPr>
        <p:spPr>
          <a:xfrm rot="0">
            <a:off x="6207254" y="5669260"/>
            <a:ext cx="2104383" cy="861229"/>
          </a:xfrm>
          <a:prstGeom prst="rect">
            <a:avLst/>
          </a:prstGeom>
        </p:spPr>
        <p:txBody>
          <a:bodyPr anchor="t" rtlCol="false" tIns="0" lIns="0" bIns="0" rIns="0">
            <a:spAutoFit/>
          </a:bodyPr>
          <a:lstStyle/>
          <a:p>
            <a:pPr algn="l">
              <a:lnSpc>
                <a:spcPts val="3128"/>
              </a:lnSpc>
            </a:pPr>
            <a:r>
              <a:rPr lang="en-US" sz="3008" spc="-126" b="true">
                <a:solidFill>
                  <a:srgbClr val="FFFFFF"/>
                </a:solidFill>
                <a:latin typeface="Arial MT Pro Bold"/>
                <a:ea typeface="Arial MT Pro Bold"/>
                <a:cs typeface="Arial MT Pro Bold"/>
                <a:sym typeface="Arial MT Pro Bold"/>
              </a:rPr>
              <a:t>Progressive Web Apps</a:t>
            </a:r>
          </a:p>
        </p:txBody>
      </p:sp>
      <p:sp>
        <p:nvSpPr>
          <p:cNvPr name="TextBox 20" id="20"/>
          <p:cNvSpPr txBox="true"/>
          <p:nvPr/>
        </p:nvSpPr>
        <p:spPr>
          <a:xfrm rot="0">
            <a:off x="2583650" y="6780782"/>
            <a:ext cx="2104383" cy="1407762"/>
          </a:xfrm>
          <a:prstGeom prst="rect">
            <a:avLst/>
          </a:prstGeom>
        </p:spPr>
        <p:txBody>
          <a:bodyPr anchor="t" rtlCol="false" tIns="0" lIns="0" bIns="0" rIns="0">
            <a:spAutoFit/>
          </a:bodyPr>
          <a:lstStyle/>
          <a:p>
            <a:pPr algn="l">
              <a:lnSpc>
                <a:spcPts val="2206"/>
              </a:lnSpc>
              <a:spcBef>
                <a:spcPct val="0"/>
              </a:spcBef>
            </a:pPr>
            <a:r>
              <a:rPr lang="en-US" sz="1576">
                <a:solidFill>
                  <a:srgbClr val="FFFFFF"/>
                </a:solidFill>
                <a:latin typeface="Arial MT Pro"/>
                <a:ea typeface="Arial MT Pro"/>
                <a:cs typeface="Arial MT Pro"/>
                <a:sym typeface="Arial MT Pro"/>
              </a:rPr>
              <a:t>Challenge: Fluctuations in raw material prices and economic conditions may impact profitability.</a:t>
            </a:r>
          </a:p>
        </p:txBody>
      </p:sp>
      <p:sp>
        <p:nvSpPr>
          <p:cNvPr name="TextBox 21" id="21"/>
          <p:cNvSpPr txBox="true"/>
          <p:nvPr/>
        </p:nvSpPr>
        <p:spPr>
          <a:xfrm rot="0">
            <a:off x="6207254" y="6780782"/>
            <a:ext cx="2104383" cy="1683987"/>
          </a:xfrm>
          <a:prstGeom prst="rect">
            <a:avLst/>
          </a:prstGeom>
        </p:spPr>
        <p:txBody>
          <a:bodyPr anchor="t" rtlCol="false" tIns="0" lIns="0" bIns="0" rIns="0">
            <a:spAutoFit/>
          </a:bodyPr>
          <a:lstStyle/>
          <a:p>
            <a:pPr algn="l">
              <a:lnSpc>
                <a:spcPts val="2206"/>
              </a:lnSpc>
              <a:spcBef>
                <a:spcPct val="0"/>
              </a:spcBef>
            </a:pPr>
            <a:r>
              <a:rPr lang="en-US" sz="1576">
                <a:solidFill>
                  <a:srgbClr val="FFFFFF"/>
                </a:solidFill>
                <a:latin typeface="Arial MT Pro"/>
                <a:ea typeface="Arial MT Pro"/>
                <a:cs typeface="Arial MT Pro"/>
                <a:sym typeface="Arial MT Pro"/>
              </a:rPr>
              <a:t>Challenge: Navigating complex regulations related to environmental standards and labor practices.</a:t>
            </a:r>
          </a:p>
        </p:txBody>
      </p:sp>
      <p:sp>
        <p:nvSpPr>
          <p:cNvPr name="TextBox 22" id="22"/>
          <p:cNvSpPr txBox="true"/>
          <p:nvPr/>
        </p:nvSpPr>
        <p:spPr>
          <a:xfrm rot="0">
            <a:off x="9830857" y="5669260"/>
            <a:ext cx="1932485" cy="861229"/>
          </a:xfrm>
          <a:prstGeom prst="rect">
            <a:avLst/>
          </a:prstGeom>
        </p:spPr>
        <p:txBody>
          <a:bodyPr anchor="t" rtlCol="false" tIns="0" lIns="0" bIns="0" rIns="0">
            <a:spAutoFit/>
          </a:bodyPr>
          <a:lstStyle/>
          <a:p>
            <a:pPr algn="l">
              <a:lnSpc>
                <a:spcPts val="3128"/>
              </a:lnSpc>
            </a:pPr>
            <a:r>
              <a:rPr lang="en-US" sz="3008" spc="-126" b="true">
                <a:solidFill>
                  <a:srgbClr val="FFFFFF"/>
                </a:solidFill>
                <a:latin typeface="Arial MT Pro Bold"/>
                <a:ea typeface="Arial MT Pro Bold"/>
                <a:cs typeface="Arial MT Pro Bold"/>
                <a:sym typeface="Arial MT Pro Bold"/>
              </a:rPr>
              <a:t>Hybride Apps</a:t>
            </a:r>
          </a:p>
        </p:txBody>
      </p:sp>
      <p:sp>
        <p:nvSpPr>
          <p:cNvPr name="TextBox 23" id="23"/>
          <p:cNvSpPr txBox="true"/>
          <p:nvPr/>
        </p:nvSpPr>
        <p:spPr>
          <a:xfrm rot="0">
            <a:off x="9830857" y="6780782"/>
            <a:ext cx="2104383" cy="1407762"/>
          </a:xfrm>
          <a:prstGeom prst="rect">
            <a:avLst/>
          </a:prstGeom>
        </p:spPr>
        <p:txBody>
          <a:bodyPr anchor="t" rtlCol="false" tIns="0" lIns="0" bIns="0" rIns="0">
            <a:spAutoFit/>
          </a:bodyPr>
          <a:lstStyle/>
          <a:p>
            <a:pPr algn="l">
              <a:lnSpc>
                <a:spcPts val="2206"/>
              </a:lnSpc>
              <a:spcBef>
                <a:spcPct val="0"/>
              </a:spcBef>
            </a:pPr>
            <a:r>
              <a:rPr lang="en-US" sz="1576">
                <a:solidFill>
                  <a:srgbClr val="FFFFFF"/>
                </a:solidFill>
                <a:latin typeface="Arial MT Pro"/>
                <a:ea typeface="Arial MT Pro"/>
                <a:cs typeface="Arial MT Pro"/>
                <a:sym typeface="Arial MT Pro"/>
              </a:rPr>
              <a:t>Challenge: Ensuring consistent cash flow to support operational needs and growth initiatives.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5250829"/>
            <a:ext cx="3293766" cy="3657600"/>
            <a:chOff x="0" y="0"/>
            <a:chExt cx="867494" cy="963319"/>
          </a:xfrm>
        </p:grpSpPr>
        <p:sp>
          <p:nvSpPr>
            <p:cNvPr name="Freeform 3" id="3"/>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4" id="4"/>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5" id="5"/>
          <p:cNvGrpSpPr/>
          <p:nvPr/>
        </p:nvGrpSpPr>
        <p:grpSpPr>
          <a:xfrm rot="0">
            <a:off x="2054482" y="2262850"/>
            <a:ext cx="10409926" cy="2638134"/>
            <a:chOff x="0" y="0"/>
            <a:chExt cx="2741709" cy="694817"/>
          </a:xfrm>
        </p:grpSpPr>
        <p:sp>
          <p:nvSpPr>
            <p:cNvPr name="Freeform 6" id="6"/>
            <p:cNvSpPr/>
            <p:nvPr/>
          </p:nvSpPr>
          <p:spPr>
            <a:xfrm flipH="false" flipV="false" rot="0">
              <a:off x="0" y="0"/>
              <a:ext cx="2741709" cy="694817"/>
            </a:xfrm>
            <a:custGeom>
              <a:avLst/>
              <a:gdLst/>
              <a:ahLst/>
              <a:cxnLst/>
              <a:rect r="r" b="b" t="t" l="l"/>
              <a:pathLst>
                <a:path h="694817" w="2741709">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2741709" cy="675767"/>
            </a:xfrm>
            <a:prstGeom prst="rect">
              <a:avLst/>
            </a:prstGeom>
          </p:spPr>
          <p:txBody>
            <a:bodyPr anchor="ctr" rtlCol="false" tIns="50800" lIns="50800" bIns="50800" rIns="50800"/>
            <a:lstStyle/>
            <a:p>
              <a:pPr algn="l">
                <a:lnSpc>
                  <a:spcPts val="1387"/>
                </a:lnSpc>
              </a:pPr>
            </a:p>
          </p:txBody>
        </p:sp>
      </p:grpSp>
      <p:grpSp>
        <p:nvGrpSpPr>
          <p:cNvPr name="Group 8" id="8"/>
          <p:cNvGrpSpPr/>
          <p:nvPr/>
        </p:nvGrpSpPr>
        <p:grpSpPr>
          <a:xfrm rot="0">
            <a:off x="5612562" y="5250829"/>
            <a:ext cx="3293766" cy="3657600"/>
            <a:chOff x="0" y="0"/>
            <a:chExt cx="867494" cy="963319"/>
          </a:xfrm>
        </p:grpSpPr>
        <p:sp>
          <p:nvSpPr>
            <p:cNvPr name="Freeform 9" id="9"/>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0" id="10"/>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1" id="11"/>
          <p:cNvGrpSpPr/>
          <p:nvPr/>
        </p:nvGrpSpPr>
        <p:grpSpPr>
          <a:xfrm rot="0">
            <a:off x="9170642" y="5250829"/>
            <a:ext cx="3293766" cy="3657600"/>
            <a:chOff x="0" y="0"/>
            <a:chExt cx="867494" cy="963319"/>
          </a:xfrm>
        </p:grpSpPr>
        <p:sp>
          <p:nvSpPr>
            <p:cNvPr name="Freeform 12" id="12"/>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3" id="13"/>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4" id="14"/>
          <p:cNvGrpSpPr/>
          <p:nvPr/>
        </p:nvGrpSpPr>
        <p:grpSpPr>
          <a:xfrm rot="0">
            <a:off x="12731108" y="1773375"/>
            <a:ext cx="3541771" cy="7135054"/>
            <a:chOff x="0" y="0"/>
            <a:chExt cx="812800" cy="1637421"/>
          </a:xfrm>
        </p:grpSpPr>
        <p:sp>
          <p:nvSpPr>
            <p:cNvPr name="Freeform 15" id="15"/>
            <p:cNvSpPr/>
            <p:nvPr/>
          </p:nvSpPr>
          <p:spPr>
            <a:xfrm flipH="false" flipV="false" rot="0">
              <a:off x="0" y="0"/>
              <a:ext cx="812800" cy="1637421"/>
            </a:xfrm>
            <a:custGeom>
              <a:avLst/>
              <a:gdLst/>
              <a:ahLst/>
              <a:cxnLst/>
              <a:rect r="r" b="b" t="t" l="l"/>
              <a:pathLst>
                <a:path h="1637421" w="812800">
                  <a:moveTo>
                    <a:pt x="63391" y="0"/>
                  </a:moveTo>
                  <a:lnTo>
                    <a:pt x="749409" y="0"/>
                  </a:lnTo>
                  <a:cubicBezTo>
                    <a:pt x="784419" y="0"/>
                    <a:pt x="812800" y="28381"/>
                    <a:pt x="812800" y="63391"/>
                  </a:cubicBezTo>
                  <a:lnTo>
                    <a:pt x="812800" y="1574031"/>
                  </a:lnTo>
                  <a:cubicBezTo>
                    <a:pt x="812800" y="1609040"/>
                    <a:pt x="784419" y="1637421"/>
                    <a:pt x="749409" y="1637421"/>
                  </a:cubicBezTo>
                  <a:lnTo>
                    <a:pt x="63391" y="1637421"/>
                  </a:lnTo>
                  <a:cubicBezTo>
                    <a:pt x="28381" y="1637421"/>
                    <a:pt x="0" y="1609040"/>
                    <a:pt x="0" y="1574031"/>
                  </a:cubicBezTo>
                  <a:lnTo>
                    <a:pt x="0" y="63391"/>
                  </a:lnTo>
                  <a:cubicBezTo>
                    <a:pt x="0" y="28381"/>
                    <a:pt x="28381" y="0"/>
                    <a:pt x="63391" y="0"/>
                  </a:cubicBezTo>
                  <a:close/>
                </a:path>
              </a:pathLst>
            </a:custGeom>
            <a:blipFill>
              <a:blip r:embed="rId2"/>
              <a:stretch>
                <a:fillRect l="-84476" t="0" r="-84476" b="0"/>
              </a:stretch>
            </a:blipFill>
          </p:spPr>
        </p:sp>
      </p:grpSp>
      <p:sp>
        <p:nvSpPr>
          <p:cNvPr name="TextBox 16" id="16"/>
          <p:cNvSpPr txBox="true"/>
          <p:nvPr/>
        </p:nvSpPr>
        <p:spPr>
          <a:xfrm rot="0">
            <a:off x="1795032" y="930452"/>
            <a:ext cx="190633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17" id="17"/>
          <p:cNvSpPr txBox="true"/>
          <p:nvPr/>
        </p:nvSpPr>
        <p:spPr>
          <a:xfrm rot="0">
            <a:off x="2583650" y="2845267"/>
            <a:ext cx="8454192" cy="756730"/>
          </a:xfrm>
          <a:prstGeom prst="rect">
            <a:avLst/>
          </a:prstGeom>
        </p:spPr>
        <p:txBody>
          <a:bodyPr anchor="t" rtlCol="false" tIns="0" lIns="0" bIns="0" rIns="0">
            <a:spAutoFit/>
          </a:bodyPr>
          <a:lstStyle/>
          <a:p>
            <a:pPr algn="l">
              <a:lnSpc>
                <a:spcPts val="5092"/>
              </a:lnSpc>
            </a:pPr>
            <a:r>
              <a:rPr lang="en-US" sz="4896" spc="-205" b="true">
                <a:solidFill>
                  <a:srgbClr val="FFFFFF"/>
                </a:solidFill>
                <a:latin typeface="Arial MT Pro Bold"/>
                <a:ea typeface="Arial MT Pro Bold"/>
                <a:cs typeface="Arial MT Pro Bold"/>
                <a:sym typeface="Arial MT Pro Bold"/>
              </a:rPr>
              <a:t>Native Apps</a:t>
            </a:r>
          </a:p>
        </p:txBody>
      </p:sp>
      <p:sp>
        <p:nvSpPr>
          <p:cNvPr name="TextBox 18" id="18"/>
          <p:cNvSpPr txBox="true"/>
          <p:nvPr/>
        </p:nvSpPr>
        <p:spPr>
          <a:xfrm rot="0">
            <a:off x="2583650" y="5669260"/>
            <a:ext cx="2374340" cy="1461939"/>
          </a:xfrm>
          <a:prstGeom prst="rect">
            <a:avLst/>
          </a:prstGeom>
        </p:spPr>
        <p:txBody>
          <a:bodyPr anchor="t" rtlCol="false" tIns="0" lIns="0" bIns="0" rIns="0">
            <a:spAutoFit/>
          </a:bodyPr>
          <a:lstStyle/>
          <a:p>
            <a:pPr algn="l">
              <a:lnSpc>
                <a:spcPts val="3648"/>
              </a:lnSpc>
            </a:pPr>
            <a:r>
              <a:rPr lang="en-US" sz="3508" spc="-147" b="true">
                <a:solidFill>
                  <a:srgbClr val="FFFFFF"/>
                </a:solidFill>
                <a:latin typeface="Arial MT Pro Bold"/>
                <a:ea typeface="Arial MT Pro Bold"/>
                <a:cs typeface="Arial MT Pro Bold"/>
                <a:sym typeface="Arial MT Pro Bold"/>
              </a:rPr>
              <a:t>Build for IOS ans Android</a:t>
            </a:r>
          </a:p>
        </p:txBody>
      </p:sp>
      <p:sp>
        <p:nvSpPr>
          <p:cNvPr name="TextBox 19" id="19"/>
          <p:cNvSpPr txBox="true"/>
          <p:nvPr/>
        </p:nvSpPr>
        <p:spPr>
          <a:xfrm rot="0">
            <a:off x="6207254" y="5669260"/>
            <a:ext cx="2451555" cy="861229"/>
          </a:xfrm>
          <a:prstGeom prst="rect">
            <a:avLst/>
          </a:prstGeom>
        </p:spPr>
        <p:txBody>
          <a:bodyPr anchor="t" rtlCol="false" tIns="0" lIns="0" bIns="0" rIns="0">
            <a:spAutoFit/>
          </a:bodyPr>
          <a:lstStyle/>
          <a:p>
            <a:pPr algn="l">
              <a:lnSpc>
                <a:spcPts val="3128"/>
              </a:lnSpc>
            </a:pPr>
            <a:r>
              <a:rPr lang="en-US" sz="3008" spc="-126" b="true">
                <a:solidFill>
                  <a:srgbClr val="FFFFFF"/>
                </a:solidFill>
                <a:latin typeface="Arial MT Pro Bold"/>
                <a:ea typeface="Arial MT Pro Bold"/>
                <a:cs typeface="Arial MT Pro Bold"/>
                <a:sym typeface="Arial MT Pro Bold"/>
              </a:rPr>
              <a:t>High Performance</a:t>
            </a:r>
          </a:p>
        </p:txBody>
      </p:sp>
      <p:sp>
        <p:nvSpPr>
          <p:cNvPr name="TextBox 20" id="20"/>
          <p:cNvSpPr txBox="true"/>
          <p:nvPr/>
        </p:nvSpPr>
        <p:spPr>
          <a:xfrm rot="0">
            <a:off x="9830857" y="5669260"/>
            <a:ext cx="1932485" cy="861229"/>
          </a:xfrm>
          <a:prstGeom prst="rect">
            <a:avLst/>
          </a:prstGeom>
        </p:spPr>
        <p:txBody>
          <a:bodyPr anchor="t" rtlCol="false" tIns="0" lIns="0" bIns="0" rIns="0">
            <a:spAutoFit/>
          </a:bodyPr>
          <a:lstStyle/>
          <a:p>
            <a:pPr algn="l">
              <a:lnSpc>
                <a:spcPts val="3128"/>
              </a:lnSpc>
            </a:pPr>
            <a:r>
              <a:rPr lang="en-US" sz="3008" spc="-126" b="true">
                <a:solidFill>
                  <a:srgbClr val="FFFFFF"/>
                </a:solidFill>
                <a:latin typeface="Arial MT Pro Bold"/>
                <a:ea typeface="Arial MT Pro Bold"/>
                <a:cs typeface="Arial MT Pro Bold"/>
                <a:sym typeface="Arial MT Pro Bold"/>
              </a:rPr>
              <a:t>Full device access</a:t>
            </a:r>
          </a:p>
        </p:txBody>
      </p:sp>
      <p:sp>
        <p:nvSpPr>
          <p:cNvPr name="TextBox 21" id="21"/>
          <p:cNvSpPr txBox="true"/>
          <p:nvPr/>
        </p:nvSpPr>
        <p:spPr>
          <a:xfrm rot="0">
            <a:off x="2583650" y="7902724"/>
            <a:ext cx="3291380" cy="1004739"/>
          </a:xfrm>
          <a:prstGeom prst="rect">
            <a:avLst/>
          </a:prstGeom>
        </p:spPr>
        <p:txBody>
          <a:bodyPr anchor="t" rtlCol="false" tIns="0" lIns="0" bIns="0" rIns="0">
            <a:spAutoFit/>
          </a:bodyPr>
          <a:lstStyle/>
          <a:p>
            <a:pPr algn="l">
              <a:lnSpc>
                <a:spcPts val="3648"/>
              </a:lnSpc>
            </a:pPr>
            <a:r>
              <a:rPr lang="en-US" sz="3508" spc="-147" b="true">
                <a:solidFill>
                  <a:srgbClr val="FFFFFF"/>
                </a:solidFill>
                <a:latin typeface="Arial MT Pro Bold"/>
                <a:ea typeface="Arial MT Pro Bold"/>
                <a:cs typeface="Arial MT Pro Bold"/>
                <a:sym typeface="Arial MT Pro Bold"/>
              </a:rPr>
              <a:t>High Cost and Maintainance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5250829"/>
            <a:ext cx="3293766" cy="3657600"/>
            <a:chOff x="0" y="0"/>
            <a:chExt cx="867494" cy="963319"/>
          </a:xfrm>
        </p:grpSpPr>
        <p:sp>
          <p:nvSpPr>
            <p:cNvPr name="Freeform 3" id="3"/>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4" id="4"/>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5" id="5"/>
          <p:cNvGrpSpPr/>
          <p:nvPr/>
        </p:nvGrpSpPr>
        <p:grpSpPr>
          <a:xfrm rot="0">
            <a:off x="2054482" y="2262850"/>
            <a:ext cx="10409926" cy="2638134"/>
            <a:chOff x="0" y="0"/>
            <a:chExt cx="2741709" cy="694817"/>
          </a:xfrm>
        </p:grpSpPr>
        <p:sp>
          <p:nvSpPr>
            <p:cNvPr name="Freeform 6" id="6"/>
            <p:cNvSpPr/>
            <p:nvPr/>
          </p:nvSpPr>
          <p:spPr>
            <a:xfrm flipH="false" flipV="false" rot="0">
              <a:off x="0" y="0"/>
              <a:ext cx="2741709" cy="694817"/>
            </a:xfrm>
            <a:custGeom>
              <a:avLst/>
              <a:gdLst/>
              <a:ahLst/>
              <a:cxnLst/>
              <a:rect r="r" b="b" t="t" l="l"/>
              <a:pathLst>
                <a:path h="694817" w="2741709">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2741709" cy="675767"/>
            </a:xfrm>
            <a:prstGeom prst="rect">
              <a:avLst/>
            </a:prstGeom>
          </p:spPr>
          <p:txBody>
            <a:bodyPr anchor="ctr" rtlCol="false" tIns="50800" lIns="50800" bIns="50800" rIns="50800"/>
            <a:lstStyle/>
            <a:p>
              <a:pPr algn="l">
                <a:lnSpc>
                  <a:spcPts val="1387"/>
                </a:lnSpc>
              </a:pPr>
            </a:p>
          </p:txBody>
        </p:sp>
      </p:grpSp>
      <p:grpSp>
        <p:nvGrpSpPr>
          <p:cNvPr name="Group 8" id="8"/>
          <p:cNvGrpSpPr/>
          <p:nvPr/>
        </p:nvGrpSpPr>
        <p:grpSpPr>
          <a:xfrm rot="0">
            <a:off x="5612562" y="5250829"/>
            <a:ext cx="3293766" cy="3657600"/>
            <a:chOff x="0" y="0"/>
            <a:chExt cx="867494" cy="963319"/>
          </a:xfrm>
        </p:grpSpPr>
        <p:sp>
          <p:nvSpPr>
            <p:cNvPr name="Freeform 9" id="9"/>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0" id="10"/>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1" id="11"/>
          <p:cNvGrpSpPr/>
          <p:nvPr/>
        </p:nvGrpSpPr>
        <p:grpSpPr>
          <a:xfrm rot="0">
            <a:off x="9170642" y="5250829"/>
            <a:ext cx="3293766" cy="3657600"/>
            <a:chOff x="0" y="0"/>
            <a:chExt cx="867494" cy="963319"/>
          </a:xfrm>
        </p:grpSpPr>
        <p:sp>
          <p:nvSpPr>
            <p:cNvPr name="Freeform 12" id="12"/>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3" id="13"/>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4" id="14"/>
          <p:cNvGrpSpPr/>
          <p:nvPr/>
        </p:nvGrpSpPr>
        <p:grpSpPr>
          <a:xfrm rot="0">
            <a:off x="7933825" y="5688310"/>
            <a:ext cx="9696181" cy="3914463"/>
            <a:chOff x="0" y="0"/>
            <a:chExt cx="2225174" cy="898329"/>
          </a:xfrm>
        </p:grpSpPr>
        <p:sp>
          <p:nvSpPr>
            <p:cNvPr name="Freeform 15" id="15"/>
            <p:cNvSpPr/>
            <p:nvPr/>
          </p:nvSpPr>
          <p:spPr>
            <a:xfrm flipH="false" flipV="false" rot="0">
              <a:off x="0" y="0"/>
              <a:ext cx="2225174" cy="898329"/>
            </a:xfrm>
            <a:custGeom>
              <a:avLst/>
              <a:gdLst/>
              <a:ahLst/>
              <a:cxnLst/>
              <a:rect r="r" b="b" t="t" l="l"/>
              <a:pathLst>
                <a:path h="898329" w="2225174">
                  <a:moveTo>
                    <a:pt x="23155" y="0"/>
                  </a:moveTo>
                  <a:lnTo>
                    <a:pt x="2202019" y="0"/>
                  </a:lnTo>
                  <a:cubicBezTo>
                    <a:pt x="2214807" y="0"/>
                    <a:pt x="2225174" y="10367"/>
                    <a:pt x="2225174" y="23155"/>
                  </a:cubicBezTo>
                  <a:lnTo>
                    <a:pt x="2225174" y="875174"/>
                  </a:lnTo>
                  <a:cubicBezTo>
                    <a:pt x="2225174" y="887962"/>
                    <a:pt x="2214807" y="898329"/>
                    <a:pt x="2202019" y="898329"/>
                  </a:cubicBezTo>
                  <a:lnTo>
                    <a:pt x="23155" y="898329"/>
                  </a:lnTo>
                  <a:cubicBezTo>
                    <a:pt x="10367" y="898329"/>
                    <a:pt x="0" y="887962"/>
                    <a:pt x="0" y="875174"/>
                  </a:cubicBezTo>
                  <a:lnTo>
                    <a:pt x="0" y="23155"/>
                  </a:lnTo>
                  <a:cubicBezTo>
                    <a:pt x="0" y="10367"/>
                    <a:pt x="10367" y="0"/>
                    <a:pt x="23155" y="0"/>
                  </a:cubicBezTo>
                  <a:close/>
                </a:path>
              </a:pathLst>
            </a:custGeom>
            <a:blipFill>
              <a:blip r:embed="rId2"/>
              <a:stretch>
                <a:fillRect l="0" t="-19356" r="0" b="-19356"/>
              </a:stretch>
            </a:blipFill>
          </p:spPr>
        </p:sp>
      </p:grpSp>
      <p:sp>
        <p:nvSpPr>
          <p:cNvPr name="TextBox 16" id="16"/>
          <p:cNvSpPr txBox="true"/>
          <p:nvPr/>
        </p:nvSpPr>
        <p:spPr>
          <a:xfrm rot="0">
            <a:off x="1795032" y="930452"/>
            <a:ext cx="190633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17" id="17"/>
          <p:cNvSpPr txBox="true"/>
          <p:nvPr/>
        </p:nvSpPr>
        <p:spPr>
          <a:xfrm rot="0">
            <a:off x="2583650" y="2845267"/>
            <a:ext cx="8454192" cy="756730"/>
          </a:xfrm>
          <a:prstGeom prst="rect">
            <a:avLst/>
          </a:prstGeom>
        </p:spPr>
        <p:txBody>
          <a:bodyPr anchor="t" rtlCol="false" tIns="0" lIns="0" bIns="0" rIns="0">
            <a:spAutoFit/>
          </a:bodyPr>
          <a:lstStyle/>
          <a:p>
            <a:pPr algn="l">
              <a:lnSpc>
                <a:spcPts val="5092"/>
              </a:lnSpc>
            </a:pPr>
            <a:r>
              <a:rPr lang="en-US" sz="4896" spc="-205" b="true">
                <a:solidFill>
                  <a:srgbClr val="FFFFFF"/>
                </a:solidFill>
                <a:latin typeface="Arial MT Pro Bold"/>
                <a:ea typeface="Arial MT Pro Bold"/>
                <a:cs typeface="Arial MT Pro Bold"/>
                <a:sym typeface="Arial MT Pro Bold"/>
              </a:rPr>
              <a:t>Progressive web Apps</a:t>
            </a:r>
          </a:p>
        </p:txBody>
      </p:sp>
      <p:sp>
        <p:nvSpPr>
          <p:cNvPr name="TextBox 18" id="18"/>
          <p:cNvSpPr txBox="true"/>
          <p:nvPr/>
        </p:nvSpPr>
        <p:spPr>
          <a:xfrm rot="0">
            <a:off x="2583650" y="5669260"/>
            <a:ext cx="2374340" cy="1004739"/>
          </a:xfrm>
          <a:prstGeom prst="rect">
            <a:avLst/>
          </a:prstGeom>
        </p:spPr>
        <p:txBody>
          <a:bodyPr anchor="t" rtlCol="false" tIns="0" lIns="0" bIns="0" rIns="0">
            <a:spAutoFit/>
          </a:bodyPr>
          <a:lstStyle/>
          <a:p>
            <a:pPr algn="l">
              <a:lnSpc>
                <a:spcPts val="3648"/>
              </a:lnSpc>
            </a:pPr>
            <a:r>
              <a:rPr lang="en-US" sz="3508" spc="-147" b="true">
                <a:solidFill>
                  <a:srgbClr val="FFFFFF"/>
                </a:solidFill>
                <a:latin typeface="Arial MT Pro Bold"/>
                <a:ea typeface="Arial MT Pro Bold"/>
                <a:cs typeface="Arial MT Pro Bold"/>
                <a:sym typeface="Arial MT Pro Bold"/>
              </a:rPr>
              <a:t>Runs in Browser</a:t>
            </a:r>
          </a:p>
        </p:txBody>
      </p:sp>
      <p:sp>
        <p:nvSpPr>
          <p:cNvPr name="TextBox 19" id="19"/>
          <p:cNvSpPr txBox="true"/>
          <p:nvPr/>
        </p:nvSpPr>
        <p:spPr>
          <a:xfrm rot="0">
            <a:off x="6207254" y="5669260"/>
            <a:ext cx="2451555" cy="861229"/>
          </a:xfrm>
          <a:prstGeom prst="rect">
            <a:avLst/>
          </a:prstGeom>
        </p:spPr>
        <p:txBody>
          <a:bodyPr anchor="t" rtlCol="false" tIns="0" lIns="0" bIns="0" rIns="0">
            <a:spAutoFit/>
          </a:bodyPr>
          <a:lstStyle/>
          <a:p>
            <a:pPr algn="l">
              <a:lnSpc>
                <a:spcPts val="3128"/>
              </a:lnSpc>
            </a:pPr>
            <a:r>
              <a:rPr lang="en-US" sz="3008" spc="-126" b="true">
                <a:solidFill>
                  <a:srgbClr val="FFFFFF"/>
                </a:solidFill>
                <a:latin typeface="Arial MT Pro Bold"/>
                <a:ea typeface="Arial MT Pro Bold"/>
                <a:cs typeface="Arial MT Pro Bold"/>
                <a:sym typeface="Arial MT Pro Bold"/>
              </a:rPr>
              <a:t>No Instalation Required</a:t>
            </a:r>
          </a:p>
        </p:txBody>
      </p:sp>
      <p:sp>
        <p:nvSpPr>
          <p:cNvPr name="TextBox 20" id="20"/>
          <p:cNvSpPr txBox="true"/>
          <p:nvPr/>
        </p:nvSpPr>
        <p:spPr>
          <a:xfrm rot="0">
            <a:off x="9830857" y="5669260"/>
            <a:ext cx="2951058" cy="470704"/>
          </a:xfrm>
          <a:prstGeom prst="rect">
            <a:avLst/>
          </a:prstGeom>
        </p:spPr>
        <p:txBody>
          <a:bodyPr anchor="t" rtlCol="false" tIns="0" lIns="0" bIns="0" rIns="0">
            <a:spAutoFit/>
          </a:bodyPr>
          <a:lstStyle/>
          <a:p>
            <a:pPr algn="l">
              <a:lnSpc>
                <a:spcPts val="3128"/>
              </a:lnSpc>
            </a:pPr>
            <a:r>
              <a:rPr lang="en-US" sz="3008" spc="-126" b="true">
                <a:solidFill>
                  <a:srgbClr val="FFFFFF"/>
                </a:solidFill>
                <a:latin typeface="Arial MT Pro Bold"/>
                <a:ea typeface="Arial MT Pro Bold"/>
                <a:cs typeface="Arial MT Pro Bold"/>
                <a:sym typeface="Arial MT Pro Bold"/>
              </a:rPr>
              <a:t>Cross-Platforms</a:t>
            </a:r>
          </a:p>
        </p:txBody>
      </p:sp>
      <p:sp>
        <p:nvSpPr>
          <p:cNvPr name="TextBox 21" id="21"/>
          <p:cNvSpPr txBox="true"/>
          <p:nvPr/>
        </p:nvSpPr>
        <p:spPr>
          <a:xfrm rot="0">
            <a:off x="2583650" y="7902724"/>
            <a:ext cx="3291380" cy="1004739"/>
          </a:xfrm>
          <a:prstGeom prst="rect">
            <a:avLst/>
          </a:prstGeom>
        </p:spPr>
        <p:txBody>
          <a:bodyPr anchor="t" rtlCol="false" tIns="0" lIns="0" bIns="0" rIns="0">
            <a:spAutoFit/>
          </a:bodyPr>
          <a:lstStyle/>
          <a:p>
            <a:pPr algn="l">
              <a:lnSpc>
                <a:spcPts val="3648"/>
              </a:lnSpc>
            </a:pPr>
            <a:r>
              <a:rPr lang="en-US" sz="3508" spc="-147" b="true">
                <a:solidFill>
                  <a:srgbClr val="FFFFFF"/>
                </a:solidFill>
                <a:latin typeface="Arial MT Pro Bold"/>
                <a:ea typeface="Arial MT Pro Bold"/>
                <a:cs typeface="Arial MT Pro Bold"/>
                <a:sym typeface="Arial MT Pro Bold"/>
              </a:rPr>
              <a:t>Limite Device Access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5250829"/>
            <a:ext cx="3293766" cy="3657600"/>
            <a:chOff x="0" y="0"/>
            <a:chExt cx="867494" cy="963319"/>
          </a:xfrm>
        </p:grpSpPr>
        <p:sp>
          <p:nvSpPr>
            <p:cNvPr name="Freeform 3" id="3"/>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4" id="4"/>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5" id="5"/>
          <p:cNvGrpSpPr/>
          <p:nvPr/>
        </p:nvGrpSpPr>
        <p:grpSpPr>
          <a:xfrm rot="0">
            <a:off x="2054482" y="2262850"/>
            <a:ext cx="10409926" cy="2638134"/>
            <a:chOff x="0" y="0"/>
            <a:chExt cx="2741709" cy="694817"/>
          </a:xfrm>
        </p:grpSpPr>
        <p:sp>
          <p:nvSpPr>
            <p:cNvPr name="Freeform 6" id="6"/>
            <p:cNvSpPr/>
            <p:nvPr/>
          </p:nvSpPr>
          <p:spPr>
            <a:xfrm flipH="false" flipV="false" rot="0">
              <a:off x="0" y="0"/>
              <a:ext cx="2741709" cy="694817"/>
            </a:xfrm>
            <a:custGeom>
              <a:avLst/>
              <a:gdLst/>
              <a:ahLst/>
              <a:cxnLst/>
              <a:rect r="r" b="b" t="t" l="l"/>
              <a:pathLst>
                <a:path h="694817" w="2741709">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2741709" cy="675767"/>
            </a:xfrm>
            <a:prstGeom prst="rect">
              <a:avLst/>
            </a:prstGeom>
          </p:spPr>
          <p:txBody>
            <a:bodyPr anchor="ctr" rtlCol="false" tIns="50800" lIns="50800" bIns="50800" rIns="50800"/>
            <a:lstStyle/>
            <a:p>
              <a:pPr algn="l">
                <a:lnSpc>
                  <a:spcPts val="1387"/>
                </a:lnSpc>
              </a:pPr>
            </a:p>
          </p:txBody>
        </p:sp>
      </p:grpSp>
      <p:grpSp>
        <p:nvGrpSpPr>
          <p:cNvPr name="Group 8" id="8"/>
          <p:cNvGrpSpPr/>
          <p:nvPr/>
        </p:nvGrpSpPr>
        <p:grpSpPr>
          <a:xfrm rot="0">
            <a:off x="5612562" y="5250829"/>
            <a:ext cx="3293766" cy="3657600"/>
            <a:chOff x="0" y="0"/>
            <a:chExt cx="867494" cy="963319"/>
          </a:xfrm>
        </p:grpSpPr>
        <p:sp>
          <p:nvSpPr>
            <p:cNvPr name="Freeform 9" id="9"/>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0" id="10"/>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1" id="11"/>
          <p:cNvGrpSpPr/>
          <p:nvPr/>
        </p:nvGrpSpPr>
        <p:grpSpPr>
          <a:xfrm rot="0">
            <a:off x="9170642" y="5250829"/>
            <a:ext cx="3293766" cy="3657600"/>
            <a:chOff x="0" y="0"/>
            <a:chExt cx="867494" cy="963319"/>
          </a:xfrm>
        </p:grpSpPr>
        <p:sp>
          <p:nvSpPr>
            <p:cNvPr name="Freeform 12" id="12"/>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3" id="13"/>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4" id="14"/>
          <p:cNvGrpSpPr/>
          <p:nvPr/>
        </p:nvGrpSpPr>
        <p:grpSpPr>
          <a:xfrm rot="0">
            <a:off x="7933825" y="5688310"/>
            <a:ext cx="9696181" cy="3914463"/>
            <a:chOff x="0" y="0"/>
            <a:chExt cx="2225174" cy="898329"/>
          </a:xfrm>
        </p:grpSpPr>
        <p:sp>
          <p:nvSpPr>
            <p:cNvPr name="Freeform 15" id="15"/>
            <p:cNvSpPr/>
            <p:nvPr/>
          </p:nvSpPr>
          <p:spPr>
            <a:xfrm flipH="false" flipV="false" rot="0">
              <a:off x="0" y="0"/>
              <a:ext cx="2225174" cy="898329"/>
            </a:xfrm>
            <a:custGeom>
              <a:avLst/>
              <a:gdLst/>
              <a:ahLst/>
              <a:cxnLst/>
              <a:rect r="r" b="b" t="t" l="l"/>
              <a:pathLst>
                <a:path h="898329" w="2225174">
                  <a:moveTo>
                    <a:pt x="23155" y="0"/>
                  </a:moveTo>
                  <a:lnTo>
                    <a:pt x="2202019" y="0"/>
                  </a:lnTo>
                  <a:cubicBezTo>
                    <a:pt x="2214807" y="0"/>
                    <a:pt x="2225174" y="10367"/>
                    <a:pt x="2225174" y="23155"/>
                  </a:cubicBezTo>
                  <a:lnTo>
                    <a:pt x="2225174" y="875174"/>
                  </a:lnTo>
                  <a:cubicBezTo>
                    <a:pt x="2225174" y="887962"/>
                    <a:pt x="2214807" y="898329"/>
                    <a:pt x="2202019" y="898329"/>
                  </a:cubicBezTo>
                  <a:lnTo>
                    <a:pt x="23155" y="898329"/>
                  </a:lnTo>
                  <a:cubicBezTo>
                    <a:pt x="10367" y="898329"/>
                    <a:pt x="0" y="887962"/>
                    <a:pt x="0" y="875174"/>
                  </a:cubicBezTo>
                  <a:lnTo>
                    <a:pt x="0" y="23155"/>
                  </a:lnTo>
                  <a:cubicBezTo>
                    <a:pt x="0" y="10367"/>
                    <a:pt x="10367" y="0"/>
                    <a:pt x="23155" y="0"/>
                  </a:cubicBezTo>
                  <a:close/>
                </a:path>
              </a:pathLst>
            </a:custGeom>
            <a:blipFill>
              <a:blip r:embed="rId2"/>
              <a:stretch>
                <a:fillRect l="0" t="-19356" r="0" b="-19356"/>
              </a:stretch>
            </a:blipFill>
          </p:spPr>
        </p:sp>
      </p:grpSp>
      <p:sp>
        <p:nvSpPr>
          <p:cNvPr name="TextBox 16" id="16"/>
          <p:cNvSpPr txBox="true"/>
          <p:nvPr/>
        </p:nvSpPr>
        <p:spPr>
          <a:xfrm rot="0">
            <a:off x="1795032" y="930452"/>
            <a:ext cx="190633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17" id="17"/>
          <p:cNvSpPr txBox="true"/>
          <p:nvPr/>
        </p:nvSpPr>
        <p:spPr>
          <a:xfrm rot="0">
            <a:off x="2583650" y="2845267"/>
            <a:ext cx="8454192" cy="756730"/>
          </a:xfrm>
          <a:prstGeom prst="rect">
            <a:avLst/>
          </a:prstGeom>
        </p:spPr>
        <p:txBody>
          <a:bodyPr anchor="t" rtlCol="false" tIns="0" lIns="0" bIns="0" rIns="0">
            <a:spAutoFit/>
          </a:bodyPr>
          <a:lstStyle/>
          <a:p>
            <a:pPr algn="l">
              <a:lnSpc>
                <a:spcPts val="5092"/>
              </a:lnSpc>
            </a:pPr>
            <a:r>
              <a:rPr lang="en-US" sz="4896" spc="-205" b="true">
                <a:solidFill>
                  <a:srgbClr val="FFFFFF"/>
                </a:solidFill>
                <a:latin typeface="Arial MT Pro Bold"/>
                <a:ea typeface="Arial MT Pro Bold"/>
                <a:cs typeface="Arial MT Pro Bold"/>
                <a:sym typeface="Arial MT Pro Bold"/>
              </a:rPr>
              <a:t>Hybrid Apps</a:t>
            </a:r>
          </a:p>
        </p:txBody>
      </p:sp>
      <p:sp>
        <p:nvSpPr>
          <p:cNvPr name="TextBox 18" id="18"/>
          <p:cNvSpPr txBox="true"/>
          <p:nvPr/>
        </p:nvSpPr>
        <p:spPr>
          <a:xfrm rot="0">
            <a:off x="2583650" y="5669260"/>
            <a:ext cx="2374340" cy="1461939"/>
          </a:xfrm>
          <a:prstGeom prst="rect">
            <a:avLst/>
          </a:prstGeom>
        </p:spPr>
        <p:txBody>
          <a:bodyPr anchor="t" rtlCol="false" tIns="0" lIns="0" bIns="0" rIns="0">
            <a:spAutoFit/>
          </a:bodyPr>
          <a:lstStyle/>
          <a:p>
            <a:pPr algn="l">
              <a:lnSpc>
                <a:spcPts val="3648"/>
              </a:lnSpc>
            </a:pPr>
            <a:r>
              <a:rPr lang="en-US" sz="3508" spc="-147" b="true">
                <a:solidFill>
                  <a:srgbClr val="FFFFFF"/>
                </a:solidFill>
                <a:latin typeface="Arial MT Pro Bold"/>
                <a:ea typeface="Arial MT Pro Bold"/>
                <a:cs typeface="Arial MT Pro Bold"/>
                <a:sym typeface="Arial MT Pro Bold"/>
              </a:rPr>
              <a:t>Combines both Native and Web</a:t>
            </a:r>
          </a:p>
        </p:txBody>
      </p:sp>
      <p:sp>
        <p:nvSpPr>
          <p:cNvPr name="TextBox 19" id="19"/>
          <p:cNvSpPr txBox="true"/>
          <p:nvPr/>
        </p:nvSpPr>
        <p:spPr>
          <a:xfrm rot="0">
            <a:off x="6207254" y="5669260"/>
            <a:ext cx="2451555" cy="861229"/>
          </a:xfrm>
          <a:prstGeom prst="rect">
            <a:avLst/>
          </a:prstGeom>
        </p:spPr>
        <p:txBody>
          <a:bodyPr anchor="t" rtlCol="false" tIns="0" lIns="0" bIns="0" rIns="0">
            <a:spAutoFit/>
          </a:bodyPr>
          <a:lstStyle/>
          <a:p>
            <a:pPr algn="l">
              <a:lnSpc>
                <a:spcPts val="3128"/>
              </a:lnSpc>
            </a:pPr>
            <a:r>
              <a:rPr lang="en-US" sz="3008" spc="-126" b="true">
                <a:solidFill>
                  <a:srgbClr val="FFFFFF"/>
                </a:solidFill>
                <a:latin typeface="Arial MT Pro Bold"/>
                <a:ea typeface="Arial MT Pro Bold"/>
                <a:cs typeface="Arial MT Pro Bold"/>
                <a:sym typeface="Arial MT Pro Bold"/>
              </a:rPr>
              <a:t>Single code Database</a:t>
            </a:r>
          </a:p>
        </p:txBody>
      </p:sp>
      <p:sp>
        <p:nvSpPr>
          <p:cNvPr name="TextBox 20" id="20"/>
          <p:cNvSpPr txBox="true"/>
          <p:nvPr/>
        </p:nvSpPr>
        <p:spPr>
          <a:xfrm rot="0">
            <a:off x="9830857" y="5669260"/>
            <a:ext cx="2951058" cy="861229"/>
          </a:xfrm>
          <a:prstGeom prst="rect">
            <a:avLst/>
          </a:prstGeom>
        </p:spPr>
        <p:txBody>
          <a:bodyPr anchor="t" rtlCol="false" tIns="0" lIns="0" bIns="0" rIns="0">
            <a:spAutoFit/>
          </a:bodyPr>
          <a:lstStyle/>
          <a:p>
            <a:pPr algn="l">
              <a:lnSpc>
                <a:spcPts val="3128"/>
              </a:lnSpc>
            </a:pPr>
            <a:r>
              <a:rPr lang="en-US" sz="3008" spc="-126" b="true">
                <a:solidFill>
                  <a:srgbClr val="FFFFFF"/>
                </a:solidFill>
                <a:latin typeface="Arial MT Pro Bold"/>
                <a:ea typeface="Arial MT Pro Bold"/>
                <a:cs typeface="Arial MT Pro Bold"/>
                <a:sym typeface="Arial MT Pro Bold"/>
              </a:rPr>
              <a:t>Faster Development</a:t>
            </a:r>
          </a:p>
        </p:txBody>
      </p:sp>
      <p:sp>
        <p:nvSpPr>
          <p:cNvPr name="TextBox 21" id="21"/>
          <p:cNvSpPr txBox="true"/>
          <p:nvPr/>
        </p:nvSpPr>
        <p:spPr>
          <a:xfrm rot="0">
            <a:off x="2583650" y="7902724"/>
            <a:ext cx="3291380" cy="1004739"/>
          </a:xfrm>
          <a:prstGeom prst="rect">
            <a:avLst/>
          </a:prstGeom>
        </p:spPr>
        <p:txBody>
          <a:bodyPr anchor="t" rtlCol="false" tIns="0" lIns="0" bIns="0" rIns="0">
            <a:spAutoFit/>
          </a:bodyPr>
          <a:lstStyle/>
          <a:p>
            <a:pPr algn="l">
              <a:lnSpc>
                <a:spcPts val="3648"/>
              </a:lnSpc>
            </a:pPr>
            <a:r>
              <a:rPr lang="en-US" sz="3508" spc="-147" b="true">
                <a:solidFill>
                  <a:srgbClr val="FFFFFF"/>
                </a:solidFill>
                <a:latin typeface="Arial MT Pro Bold"/>
                <a:ea typeface="Arial MT Pro Bold"/>
                <a:cs typeface="Arial MT Pro Bold"/>
                <a:sym typeface="Arial MT Pro Bold"/>
              </a:rPr>
              <a:t>Lower Perfomance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TextBox 2" id="2"/>
          <p:cNvSpPr txBox="true"/>
          <p:nvPr/>
        </p:nvSpPr>
        <p:spPr>
          <a:xfrm rot="0">
            <a:off x="1795032" y="930452"/>
            <a:ext cx="194477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grpSp>
        <p:nvGrpSpPr>
          <p:cNvPr name="Group 3" id="3"/>
          <p:cNvGrpSpPr/>
          <p:nvPr/>
        </p:nvGrpSpPr>
        <p:grpSpPr>
          <a:xfrm rot="0">
            <a:off x="2054482" y="2277799"/>
            <a:ext cx="8679644" cy="6630631"/>
            <a:chOff x="0" y="0"/>
            <a:chExt cx="2143421" cy="1637421"/>
          </a:xfrm>
        </p:grpSpPr>
        <p:sp>
          <p:nvSpPr>
            <p:cNvPr name="Freeform 4" id="4"/>
            <p:cNvSpPr/>
            <p:nvPr/>
          </p:nvSpPr>
          <p:spPr>
            <a:xfrm flipH="false" flipV="false" rot="0">
              <a:off x="0" y="0"/>
              <a:ext cx="2143421" cy="1637421"/>
            </a:xfrm>
            <a:custGeom>
              <a:avLst/>
              <a:gdLst/>
              <a:ahLst/>
              <a:cxnLst/>
              <a:rect r="r" b="b" t="t" l="l"/>
              <a:pathLst>
                <a:path h="1637421" w="2143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2"/>
              <a:stretch>
                <a:fillRect l="-23327" t="0" r="-23327" b="0"/>
              </a:stretch>
            </a:blipFill>
          </p:spPr>
        </p:sp>
      </p:grpSp>
      <p:grpSp>
        <p:nvGrpSpPr>
          <p:cNvPr name="Group 5" id="5"/>
          <p:cNvGrpSpPr/>
          <p:nvPr/>
        </p:nvGrpSpPr>
        <p:grpSpPr>
          <a:xfrm rot="0">
            <a:off x="2054482" y="4580882"/>
            <a:ext cx="8679644" cy="4327547"/>
            <a:chOff x="0" y="0"/>
            <a:chExt cx="2285997" cy="1139766"/>
          </a:xfrm>
        </p:grpSpPr>
        <p:sp>
          <p:nvSpPr>
            <p:cNvPr name="Freeform 6" id="6"/>
            <p:cNvSpPr/>
            <p:nvPr/>
          </p:nvSpPr>
          <p:spPr>
            <a:xfrm flipH="false" flipV="false" rot="0">
              <a:off x="0" y="0"/>
              <a:ext cx="2285997" cy="1139766"/>
            </a:xfrm>
            <a:custGeom>
              <a:avLst/>
              <a:gdLst/>
              <a:ahLst/>
              <a:cxnLst/>
              <a:rect r="r" b="b" t="t" l="l"/>
              <a:pathLst>
                <a:path h="1139766" w="2285997">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true">
              <a:gsLst>
                <a:gs pos="0">
                  <a:srgbClr val="141519">
                    <a:alpha val="0"/>
                  </a:srgbClr>
                </a:gs>
                <a:gs pos="100000">
                  <a:srgbClr val="141519">
                    <a:alpha val="94500"/>
                  </a:srgbClr>
                </a:gs>
              </a:gsLst>
              <a:lin ang="5400000"/>
            </a:gradFill>
          </p:spPr>
        </p:sp>
        <p:sp>
          <p:nvSpPr>
            <p:cNvPr name="TextBox 7" id="7"/>
            <p:cNvSpPr txBox="true"/>
            <p:nvPr/>
          </p:nvSpPr>
          <p:spPr>
            <a:xfrm>
              <a:off x="0" y="19050"/>
              <a:ext cx="2285997" cy="1120716"/>
            </a:xfrm>
            <a:prstGeom prst="rect">
              <a:avLst/>
            </a:prstGeom>
          </p:spPr>
          <p:txBody>
            <a:bodyPr anchor="ctr" rtlCol="false" tIns="50800" lIns="50800" bIns="50800" rIns="50800"/>
            <a:lstStyle/>
            <a:p>
              <a:pPr algn="ctr">
                <a:lnSpc>
                  <a:spcPts val="1387"/>
                </a:lnSpc>
              </a:pPr>
            </a:p>
          </p:txBody>
        </p:sp>
      </p:grpSp>
      <p:sp>
        <p:nvSpPr>
          <p:cNvPr name="TextBox 8" id="8"/>
          <p:cNvSpPr txBox="true"/>
          <p:nvPr/>
        </p:nvSpPr>
        <p:spPr>
          <a:xfrm rot="0">
            <a:off x="2811474" y="6716081"/>
            <a:ext cx="5036482" cy="1645313"/>
          </a:xfrm>
          <a:prstGeom prst="rect">
            <a:avLst/>
          </a:prstGeom>
        </p:spPr>
        <p:txBody>
          <a:bodyPr anchor="t" rtlCol="false" tIns="0" lIns="0" bIns="0" rIns="0">
            <a:spAutoFit/>
          </a:bodyPr>
          <a:lstStyle/>
          <a:p>
            <a:pPr algn="l">
              <a:lnSpc>
                <a:spcPts val="5917"/>
              </a:lnSpc>
            </a:pPr>
            <a:r>
              <a:rPr lang="en-US" sz="5690" spc="-238" b="true">
                <a:solidFill>
                  <a:srgbClr val="FFFFFF"/>
                </a:solidFill>
                <a:latin typeface="Arial MT Pro Bold"/>
                <a:ea typeface="Arial MT Pro Bold"/>
                <a:cs typeface="Arial MT Pro Bold"/>
                <a:sym typeface="Arial MT Pro Bold"/>
              </a:rPr>
              <a:t>Programming Languages</a:t>
            </a:r>
          </a:p>
        </p:txBody>
      </p:sp>
      <p:sp>
        <p:nvSpPr>
          <p:cNvPr name="TextBox 9" id="9"/>
          <p:cNvSpPr txBox="true"/>
          <p:nvPr/>
        </p:nvSpPr>
        <p:spPr>
          <a:xfrm rot="0">
            <a:off x="11963670" y="2153974"/>
            <a:ext cx="6973619" cy="4357247"/>
          </a:xfrm>
          <a:prstGeom prst="rect">
            <a:avLst/>
          </a:prstGeom>
        </p:spPr>
        <p:txBody>
          <a:bodyPr anchor="t" rtlCol="false" tIns="0" lIns="0" bIns="0" rIns="0">
            <a:spAutoFit/>
          </a:bodyPr>
          <a:lstStyle/>
          <a:p>
            <a:pPr algn="l">
              <a:lnSpc>
                <a:spcPts val="3527"/>
              </a:lnSpc>
            </a:pPr>
            <a:r>
              <a:rPr lang="en-US" sz="2218">
                <a:solidFill>
                  <a:srgbClr val="FFFFFF"/>
                </a:solidFill>
                <a:latin typeface="Arial MT Pro"/>
                <a:ea typeface="Arial MT Pro"/>
                <a:cs typeface="Arial MT Pro"/>
                <a:sym typeface="Arial MT Pro"/>
              </a:rPr>
              <a:t>Mobile application development involves multiple approaches and technologies</a:t>
            </a:r>
            <a:r>
              <a:rPr lang="en-US" sz="2218">
                <a:solidFill>
                  <a:srgbClr val="FFFFFF"/>
                </a:solidFill>
                <a:latin typeface="Arial MT Pro"/>
                <a:ea typeface="Arial MT Pro"/>
                <a:cs typeface="Arial MT Pro"/>
                <a:sym typeface="Arial MT Pro"/>
              </a:rPr>
              <a:t>Each option (Native, PWA, Hybrid) has its own advantages and limitationsChoosing the right programming language and framework is crucialSoftware architectures (MVC, MVVM, VIPER) help structure applications efficientlyApplying the right design patterns and development process ensures quality</a:t>
            </a:r>
          </a:p>
          <a:p>
            <a:pPr algn="l">
              <a:lnSpc>
                <a:spcPts val="2732"/>
              </a:lnSpc>
            </a:pPr>
          </a:p>
          <a:p>
            <a:pPr algn="l">
              <a:lnSpc>
                <a:spcPts val="2732"/>
              </a:lnSpc>
            </a:pPr>
          </a:p>
          <a:p>
            <a:pPr algn="l">
              <a:lnSpc>
                <a:spcPts val="119"/>
              </a:lnSpc>
            </a:pPr>
          </a:p>
        </p:txBody>
      </p:sp>
      <p:grpSp>
        <p:nvGrpSpPr>
          <p:cNvPr name="Group 10" id="10"/>
          <p:cNvGrpSpPr/>
          <p:nvPr/>
        </p:nvGrpSpPr>
        <p:grpSpPr>
          <a:xfrm rot="0">
            <a:off x="11477408" y="5631234"/>
            <a:ext cx="4545081" cy="1509786"/>
            <a:chOff x="0" y="0"/>
            <a:chExt cx="1185649" cy="393849"/>
          </a:xfrm>
        </p:grpSpPr>
        <p:sp>
          <p:nvSpPr>
            <p:cNvPr name="Freeform 11" id="11"/>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12" id="12"/>
            <p:cNvSpPr txBox="true"/>
            <p:nvPr/>
          </p:nvSpPr>
          <p:spPr>
            <a:xfrm>
              <a:off x="0" y="19050"/>
              <a:ext cx="1185649" cy="374799"/>
            </a:xfrm>
            <a:prstGeom prst="rect">
              <a:avLst/>
            </a:prstGeom>
          </p:spPr>
          <p:txBody>
            <a:bodyPr anchor="ctr" rtlCol="false" tIns="50800" lIns="50800" bIns="50800" rIns="50800"/>
            <a:lstStyle/>
            <a:p>
              <a:pPr algn="ctr">
                <a:lnSpc>
                  <a:spcPts val="1387"/>
                </a:lnSpc>
              </a:pPr>
            </a:p>
          </p:txBody>
        </p:sp>
      </p:grpSp>
      <p:sp>
        <p:nvSpPr>
          <p:cNvPr name="TextBox 13" id="13"/>
          <p:cNvSpPr txBox="true"/>
          <p:nvPr/>
        </p:nvSpPr>
        <p:spPr>
          <a:xfrm rot="0">
            <a:off x="11963670" y="5820326"/>
            <a:ext cx="3572557" cy="3349403"/>
          </a:xfrm>
          <a:prstGeom prst="rect">
            <a:avLst/>
          </a:prstGeom>
        </p:spPr>
        <p:txBody>
          <a:bodyPr anchor="t" rtlCol="false" tIns="0" lIns="0" bIns="0" rIns="0">
            <a:spAutoFit/>
          </a:bodyPr>
          <a:lstStyle/>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Swift for IOS</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Kotlin for Android</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Java</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Dart</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Objective-C </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Python</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And so more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2277799"/>
            <a:ext cx="8679644" cy="6630631"/>
            <a:chOff x="0" y="0"/>
            <a:chExt cx="2143421" cy="1637421"/>
          </a:xfrm>
        </p:grpSpPr>
        <p:sp>
          <p:nvSpPr>
            <p:cNvPr name="Freeform 3" id="3"/>
            <p:cNvSpPr/>
            <p:nvPr/>
          </p:nvSpPr>
          <p:spPr>
            <a:xfrm flipH="false" flipV="false" rot="0">
              <a:off x="0" y="0"/>
              <a:ext cx="2143421" cy="1637421"/>
            </a:xfrm>
            <a:custGeom>
              <a:avLst/>
              <a:gdLst/>
              <a:ahLst/>
              <a:cxnLst/>
              <a:rect r="r" b="b" t="t" l="l"/>
              <a:pathLst>
                <a:path h="1637421" w="2143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2"/>
              <a:stretch>
                <a:fillRect l="-11502" t="0" r="-11502" b="0"/>
              </a:stretch>
            </a:blipFill>
          </p:spPr>
        </p:sp>
      </p:grpSp>
      <p:grpSp>
        <p:nvGrpSpPr>
          <p:cNvPr name="Group 4" id="4"/>
          <p:cNvGrpSpPr/>
          <p:nvPr/>
        </p:nvGrpSpPr>
        <p:grpSpPr>
          <a:xfrm rot="0">
            <a:off x="2054482" y="4580882"/>
            <a:ext cx="8679644" cy="4327547"/>
            <a:chOff x="0" y="0"/>
            <a:chExt cx="2285997" cy="1139766"/>
          </a:xfrm>
        </p:grpSpPr>
        <p:sp>
          <p:nvSpPr>
            <p:cNvPr name="Freeform 5" id="5"/>
            <p:cNvSpPr/>
            <p:nvPr/>
          </p:nvSpPr>
          <p:spPr>
            <a:xfrm flipH="false" flipV="false" rot="0">
              <a:off x="0" y="0"/>
              <a:ext cx="2285997" cy="1139766"/>
            </a:xfrm>
            <a:custGeom>
              <a:avLst/>
              <a:gdLst/>
              <a:ahLst/>
              <a:cxnLst/>
              <a:rect r="r" b="b" t="t" l="l"/>
              <a:pathLst>
                <a:path h="1139766" w="2285997">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true">
              <a:gsLst>
                <a:gs pos="0">
                  <a:srgbClr val="141519">
                    <a:alpha val="0"/>
                  </a:srgbClr>
                </a:gs>
                <a:gs pos="100000">
                  <a:srgbClr val="141519">
                    <a:alpha val="94500"/>
                  </a:srgbClr>
                </a:gs>
              </a:gsLst>
              <a:lin ang="5400000"/>
            </a:gradFill>
          </p:spPr>
        </p:sp>
        <p:sp>
          <p:nvSpPr>
            <p:cNvPr name="TextBox 6" id="6"/>
            <p:cNvSpPr txBox="true"/>
            <p:nvPr/>
          </p:nvSpPr>
          <p:spPr>
            <a:xfrm>
              <a:off x="0" y="19050"/>
              <a:ext cx="2285997" cy="1120716"/>
            </a:xfrm>
            <a:prstGeom prst="rect">
              <a:avLst/>
            </a:prstGeom>
          </p:spPr>
          <p:txBody>
            <a:bodyPr anchor="ctr" rtlCol="false" tIns="50800" lIns="50800" bIns="50800" rIns="50800"/>
            <a:lstStyle/>
            <a:p>
              <a:pPr algn="ctr">
                <a:lnSpc>
                  <a:spcPts val="1387"/>
                </a:lnSpc>
              </a:pPr>
            </a:p>
          </p:txBody>
        </p:sp>
      </p:grpSp>
      <p:grpSp>
        <p:nvGrpSpPr>
          <p:cNvPr name="Group 7" id="7"/>
          <p:cNvGrpSpPr/>
          <p:nvPr/>
        </p:nvGrpSpPr>
        <p:grpSpPr>
          <a:xfrm rot="0">
            <a:off x="11477408" y="5631234"/>
            <a:ext cx="4545081" cy="1509786"/>
            <a:chOff x="0" y="0"/>
            <a:chExt cx="1185649" cy="393849"/>
          </a:xfrm>
        </p:grpSpPr>
        <p:sp>
          <p:nvSpPr>
            <p:cNvPr name="Freeform 8" id="8"/>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9" id="9"/>
            <p:cNvSpPr txBox="true"/>
            <p:nvPr/>
          </p:nvSpPr>
          <p:spPr>
            <a:xfrm>
              <a:off x="0" y="19050"/>
              <a:ext cx="1185649" cy="374799"/>
            </a:xfrm>
            <a:prstGeom prst="rect">
              <a:avLst/>
            </a:prstGeom>
          </p:spPr>
          <p:txBody>
            <a:bodyPr anchor="ctr" rtlCol="false" tIns="50800" lIns="50800" bIns="50800" rIns="50800"/>
            <a:lstStyle/>
            <a:p>
              <a:pPr algn="ctr">
                <a:lnSpc>
                  <a:spcPts val="1387"/>
                </a:lnSpc>
              </a:pPr>
            </a:p>
          </p:txBody>
        </p:sp>
      </p:grpSp>
      <p:sp>
        <p:nvSpPr>
          <p:cNvPr name="TextBox 10" id="10"/>
          <p:cNvSpPr txBox="true"/>
          <p:nvPr/>
        </p:nvSpPr>
        <p:spPr>
          <a:xfrm rot="0">
            <a:off x="1795032" y="930452"/>
            <a:ext cx="194477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11" id="11"/>
          <p:cNvSpPr txBox="true"/>
          <p:nvPr/>
        </p:nvSpPr>
        <p:spPr>
          <a:xfrm rot="0">
            <a:off x="2811474" y="6716081"/>
            <a:ext cx="5036482" cy="894757"/>
          </a:xfrm>
          <a:prstGeom prst="rect">
            <a:avLst/>
          </a:prstGeom>
        </p:spPr>
        <p:txBody>
          <a:bodyPr anchor="t" rtlCol="false" tIns="0" lIns="0" bIns="0" rIns="0">
            <a:spAutoFit/>
          </a:bodyPr>
          <a:lstStyle/>
          <a:p>
            <a:pPr algn="l">
              <a:lnSpc>
                <a:spcPts val="5917"/>
              </a:lnSpc>
            </a:pPr>
            <a:r>
              <a:rPr lang="en-US" sz="5690" spc="-238" b="true">
                <a:solidFill>
                  <a:srgbClr val="FFFFFF"/>
                </a:solidFill>
                <a:latin typeface="Arial MT Pro Bold"/>
                <a:ea typeface="Arial MT Pro Bold"/>
                <a:cs typeface="Arial MT Pro Bold"/>
                <a:sym typeface="Arial MT Pro Bold"/>
              </a:rPr>
              <a:t>Frameworks</a:t>
            </a:r>
          </a:p>
        </p:txBody>
      </p:sp>
      <p:sp>
        <p:nvSpPr>
          <p:cNvPr name="TextBox 12" id="12"/>
          <p:cNvSpPr txBox="true"/>
          <p:nvPr/>
        </p:nvSpPr>
        <p:spPr>
          <a:xfrm rot="0">
            <a:off x="11656709" y="2153974"/>
            <a:ext cx="6019543" cy="3428137"/>
          </a:xfrm>
          <a:prstGeom prst="rect">
            <a:avLst/>
          </a:prstGeom>
        </p:spPr>
        <p:txBody>
          <a:bodyPr anchor="t" rtlCol="false" tIns="0" lIns="0" bIns="0" rIns="0">
            <a:spAutoFit/>
          </a:bodyPr>
          <a:lstStyle/>
          <a:p>
            <a:pPr algn="l">
              <a:lnSpc>
                <a:spcPts val="3383"/>
              </a:lnSpc>
            </a:pPr>
            <a:r>
              <a:rPr lang="en-US" sz="2128">
                <a:solidFill>
                  <a:srgbClr val="FFFFFF"/>
                </a:solidFill>
                <a:latin typeface="Arial MT Pro"/>
                <a:ea typeface="Arial MT Pro"/>
                <a:cs typeface="Arial MT Pro"/>
                <a:sym typeface="Arial MT Pro"/>
              </a:rPr>
              <a:t>Frameworks simplify mobile app development by providing tools and reusable components. Flutter, developed by Google, offers high performance and customizable UI. React Native uses JavaScript and is very popular. Xamarin, backed by Microsoft, uses C# and allows code sharing across platforms. Ionic focuses on hybrid apps using web technologies</a:t>
            </a:r>
          </a:p>
        </p:txBody>
      </p:sp>
      <p:sp>
        <p:nvSpPr>
          <p:cNvPr name="TextBox 13" id="13"/>
          <p:cNvSpPr txBox="true"/>
          <p:nvPr/>
        </p:nvSpPr>
        <p:spPr>
          <a:xfrm rot="0">
            <a:off x="11963670" y="5820326"/>
            <a:ext cx="3572557" cy="1920653"/>
          </a:xfrm>
          <a:prstGeom prst="rect">
            <a:avLst/>
          </a:prstGeom>
        </p:spPr>
        <p:txBody>
          <a:bodyPr anchor="t" rtlCol="false" tIns="0" lIns="0" bIns="0" rIns="0">
            <a:spAutoFit/>
          </a:bodyPr>
          <a:lstStyle/>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Flutter</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React native</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Xamarin</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ionic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TextBox 2" id="2"/>
          <p:cNvSpPr txBox="true"/>
          <p:nvPr/>
        </p:nvSpPr>
        <p:spPr>
          <a:xfrm rot="0">
            <a:off x="1795032" y="930452"/>
            <a:ext cx="194477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grpSp>
        <p:nvGrpSpPr>
          <p:cNvPr name="Group 3" id="3"/>
          <p:cNvGrpSpPr/>
          <p:nvPr/>
        </p:nvGrpSpPr>
        <p:grpSpPr>
          <a:xfrm rot="0">
            <a:off x="2054482" y="2277799"/>
            <a:ext cx="8679644" cy="6630631"/>
            <a:chOff x="0" y="0"/>
            <a:chExt cx="2143421" cy="1637421"/>
          </a:xfrm>
        </p:grpSpPr>
        <p:sp>
          <p:nvSpPr>
            <p:cNvPr name="Freeform 4" id="4"/>
            <p:cNvSpPr/>
            <p:nvPr/>
          </p:nvSpPr>
          <p:spPr>
            <a:xfrm flipH="false" flipV="false" rot="0">
              <a:off x="0" y="0"/>
              <a:ext cx="2143421" cy="1637421"/>
            </a:xfrm>
            <a:custGeom>
              <a:avLst/>
              <a:gdLst/>
              <a:ahLst/>
              <a:cxnLst/>
              <a:rect r="r" b="b" t="t" l="l"/>
              <a:pathLst>
                <a:path h="1637421" w="2143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2"/>
              <a:stretch>
                <a:fillRect l="-13660" t="0" r="-13660" b="0"/>
              </a:stretch>
            </a:blipFill>
          </p:spPr>
        </p:sp>
      </p:grpSp>
      <p:grpSp>
        <p:nvGrpSpPr>
          <p:cNvPr name="Group 5" id="5"/>
          <p:cNvGrpSpPr/>
          <p:nvPr/>
        </p:nvGrpSpPr>
        <p:grpSpPr>
          <a:xfrm rot="0">
            <a:off x="2054482" y="4580882"/>
            <a:ext cx="8679644" cy="4327547"/>
            <a:chOff x="0" y="0"/>
            <a:chExt cx="2285997" cy="1139766"/>
          </a:xfrm>
        </p:grpSpPr>
        <p:sp>
          <p:nvSpPr>
            <p:cNvPr name="Freeform 6" id="6"/>
            <p:cNvSpPr/>
            <p:nvPr/>
          </p:nvSpPr>
          <p:spPr>
            <a:xfrm flipH="false" flipV="false" rot="0">
              <a:off x="0" y="0"/>
              <a:ext cx="2285997" cy="1139766"/>
            </a:xfrm>
            <a:custGeom>
              <a:avLst/>
              <a:gdLst/>
              <a:ahLst/>
              <a:cxnLst/>
              <a:rect r="r" b="b" t="t" l="l"/>
              <a:pathLst>
                <a:path h="1139766" w="2285997">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true">
              <a:gsLst>
                <a:gs pos="0">
                  <a:srgbClr val="141519">
                    <a:alpha val="0"/>
                  </a:srgbClr>
                </a:gs>
                <a:gs pos="100000">
                  <a:srgbClr val="141519">
                    <a:alpha val="94500"/>
                  </a:srgbClr>
                </a:gs>
              </a:gsLst>
              <a:lin ang="5400000"/>
            </a:gradFill>
          </p:spPr>
        </p:sp>
        <p:sp>
          <p:nvSpPr>
            <p:cNvPr name="TextBox 7" id="7"/>
            <p:cNvSpPr txBox="true"/>
            <p:nvPr/>
          </p:nvSpPr>
          <p:spPr>
            <a:xfrm>
              <a:off x="0" y="19050"/>
              <a:ext cx="2285997" cy="1120716"/>
            </a:xfrm>
            <a:prstGeom prst="rect">
              <a:avLst/>
            </a:prstGeom>
          </p:spPr>
          <p:txBody>
            <a:bodyPr anchor="ctr" rtlCol="false" tIns="50800" lIns="50800" bIns="50800" rIns="50800"/>
            <a:lstStyle/>
            <a:p>
              <a:pPr algn="ctr">
                <a:lnSpc>
                  <a:spcPts val="1387"/>
                </a:lnSpc>
              </a:pPr>
            </a:p>
          </p:txBody>
        </p:sp>
      </p:grpSp>
      <p:sp>
        <p:nvSpPr>
          <p:cNvPr name="TextBox 8" id="8"/>
          <p:cNvSpPr txBox="true"/>
          <p:nvPr/>
        </p:nvSpPr>
        <p:spPr>
          <a:xfrm rot="0">
            <a:off x="2811474" y="6716081"/>
            <a:ext cx="5036482" cy="894757"/>
          </a:xfrm>
          <a:prstGeom prst="rect">
            <a:avLst/>
          </a:prstGeom>
        </p:spPr>
        <p:txBody>
          <a:bodyPr anchor="t" rtlCol="false" tIns="0" lIns="0" bIns="0" rIns="0">
            <a:spAutoFit/>
          </a:bodyPr>
          <a:lstStyle/>
          <a:p>
            <a:pPr algn="l">
              <a:lnSpc>
                <a:spcPts val="5917"/>
              </a:lnSpc>
            </a:pPr>
            <a:r>
              <a:rPr lang="en-US" sz="5690" spc="-238" b="true">
                <a:solidFill>
                  <a:srgbClr val="FFFFFF"/>
                </a:solidFill>
                <a:latin typeface="Arial MT Pro Bold"/>
                <a:ea typeface="Arial MT Pro Bold"/>
                <a:cs typeface="Arial MT Pro Bold"/>
                <a:sym typeface="Arial MT Pro Bold"/>
              </a:rPr>
              <a:t>Architecture</a:t>
            </a:r>
          </a:p>
        </p:txBody>
      </p:sp>
      <p:sp>
        <p:nvSpPr>
          <p:cNvPr name="TextBox 9" id="9"/>
          <p:cNvSpPr txBox="true"/>
          <p:nvPr/>
        </p:nvSpPr>
        <p:spPr>
          <a:xfrm rot="0">
            <a:off x="11477408" y="2106349"/>
            <a:ext cx="5781892" cy="3624486"/>
          </a:xfrm>
          <a:prstGeom prst="rect">
            <a:avLst/>
          </a:prstGeom>
        </p:spPr>
        <p:txBody>
          <a:bodyPr anchor="t" rtlCol="false" tIns="0" lIns="0" bIns="0" rIns="0">
            <a:spAutoFit/>
          </a:bodyPr>
          <a:lstStyle/>
          <a:p>
            <a:pPr algn="l">
              <a:lnSpc>
                <a:spcPts val="4732"/>
              </a:lnSpc>
            </a:pPr>
            <a:r>
              <a:rPr lang="en-US" sz="2976">
                <a:solidFill>
                  <a:srgbClr val="FFFFFF"/>
                </a:solidFill>
                <a:latin typeface="Arial MT Pro"/>
                <a:ea typeface="Arial MT Pro"/>
                <a:cs typeface="Arial MT Pro"/>
                <a:sym typeface="Arial MT Pro"/>
              </a:rPr>
              <a:t>Architecture in mobile development is the structured design that defines how different components of an application interact to ensure scalability, maintainability, and efficiency.</a:t>
            </a:r>
          </a:p>
        </p:txBody>
      </p:sp>
      <p:grpSp>
        <p:nvGrpSpPr>
          <p:cNvPr name="Group 10" id="10"/>
          <p:cNvGrpSpPr/>
          <p:nvPr/>
        </p:nvGrpSpPr>
        <p:grpSpPr>
          <a:xfrm rot="0">
            <a:off x="11477408" y="5631234"/>
            <a:ext cx="4545081" cy="1509786"/>
            <a:chOff x="0" y="0"/>
            <a:chExt cx="1185649" cy="393849"/>
          </a:xfrm>
        </p:grpSpPr>
        <p:sp>
          <p:nvSpPr>
            <p:cNvPr name="Freeform 11" id="11"/>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12" id="12"/>
            <p:cNvSpPr txBox="true"/>
            <p:nvPr/>
          </p:nvSpPr>
          <p:spPr>
            <a:xfrm>
              <a:off x="0" y="19050"/>
              <a:ext cx="1185649" cy="374799"/>
            </a:xfrm>
            <a:prstGeom prst="rect">
              <a:avLst/>
            </a:prstGeom>
          </p:spPr>
          <p:txBody>
            <a:bodyPr anchor="ctr" rtlCol="false" tIns="50800" lIns="50800" bIns="50800" rIns="50800"/>
            <a:lstStyle/>
            <a:p>
              <a:pPr algn="ctr">
                <a:lnSpc>
                  <a:spcPts val="1387"/>
                </a:lnSpc>
              </a:pPr>
            </a:p>
          </p:txBody>
        </p:sp>
      </p:grpSp>
      <p:sp>
        <p:nvSpPr>
          <p:cNvPr name="TextBox 13" id="13"/>
          <p:cNvSpPr txBox="true"/>
          <p:nvPr/>
        </p:nvSpPr>
        <p:spPr>
          <a:xfrm rot="0">
            <a:off x="11963670" y="5820326"/>
            <a:ext cx="3572557" cy="2396903"/>
          </a:xfrm>
          <a:prstGeom prst="rect">
            <a:avLst/>
          </a:prstGeom>
        </p:spPr>
        <p:txBody>
          <a:bodyPr anchor="t" rtlCol="false" tIns="0" lIns="0" bIns="0" rIns="0">
            <a:spAutoFit/>
          </a:bodyPr>
          <a:lstStyle/>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Model View Controller (MVP)</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Model Vikew ViewModel ( MVVM)</a:t>
            </a:r>
          </a:p>
          <a:p>
            <a:pPr algn="l" marL="513037" indent="-256518" lvl="1">
              <a:lnSpc>
                <a:spcPts val="3778"/>
              </a:lnSpc>
              <a:buFont typeface="Arial"/>
              <a:buChar char="•"/>
            </a:pPr>
            <a:r>
              <a:rPr lang="en-US" sz="2376">
                <a:solidFill>
                  <a:srgbClr val="FFFFFF"/>
                </a:solidFill>
                <a:latin typeface="Arial MT Pro"/>
                <a:ea typeface="Arial MT Pro"/>
                <a:cs typeface="Arial MT Pro"/>
                <a:sym typeface="Arial MT Pro"/>
              </a:rPr>
              <a:t>Viper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5250829"/>
            <a:ext cx="3293766" cy="3657600"/>
            <a:chOff x="0" y="0"/>
            <a:chExt cx="867494" cy="963319"/>
          </a:xfrm>
        </p:grpSpPr>
        <p:sp>
          <p:nvSpPr>
            <p:cNvPr name="Freeform 3" id="3"/>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4" id="4"/>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5" id="5"/>
          <p:cNvGrpSpPr/>
          <p:nvPr/>
        </p:nvGrpSpPr>
        <p:grpSpPr>
          <a:xfrm rot="0">
            <a:off x="2054482" y="2262850"/>
            <a:ext cx="10409926" cy="2638134"/>
            <a:chOff x="0" y="0"/>
            <a:chExt cx="2741709" cy="694817"/>
          </a:xfrm>
        </p:grpSpPr>
        <p:sp>
          <p:nvSpPr>
            <p:cNvPr name="Freeform 6" id="6"/>
            <p:cNvSpPr/>
            <p:nvPr/>
          </p:nvSpPr>
          <p:spPr>
            <a:xfrm flipH="false" flipV="false" rot="0">
              <a:off x="0" y="0"/>
              <a:ext cx="2741709" cy="694817"/>
            </a:xfrm>
            <a:custGeom>
              <a:avLst/>
              <a:gdLst/>
              <a:ahLst/>
              <a:cxnLst/>
              <a:rect r="r" b="b" t="t" l="l"/>
              <a:pathLst>
                <a:path h="694817" w="2741709">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2741709" cy="675767"/>
            </a:xfrm>
            <a:prstGeom prst="rect">
              <a:avLst/>
            </a:prstGeom>
          </p:spPr>
          <p:txBody>
            <a:bodyPr anchor="ctr" rtlCol="false" tIns="50800" lIns="50800" bIns="50800" rIns="50800"/>
            <a:lstStyle/>
            <a:p>
              <a:pPr algn="l">
                <a:lnSpc>
                  <a:spcPts val="1387"/>
                </a:lnSpc>
              </a:pPr>
            </a:p>
          </p:txBody>
        </p:sp>
      </p:grpSp>
      <p:grpSp>
        <p:nvGrpSpPr>
          <p:cNvPr name="Group 8" id="8"/>
          <p:cNvGrpSpPr/>
          <p:nvPr/>
        </p:nvGrpSpPr>
        <p:grpSpPr>
          <a:xfrm rot="0">
            <a:off x="5612562" y="5250829"/>
            <a:ext cx="3293766" cy="3657600"/>
            <a:chOff x="0" y="0"/>
            <a:chExt cx="867494" cy="963319"/>
          </a:xfrm>
        </p:grpSpPr>
        <p:sp>
          <p:nvSpPr>
            <p:cNvPr name="Freeform 9" id="9"/>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0" id="10"/>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1" id="11"/>
          <p:cNvGrpSpPr/>
          <p:nvPr/>
        </p:nvGrpSpPr>
        <p:grpSpPr>
          <a:xfrm rot="0">
            <a:off x="9170642" y="5250829"/>
            <a:ext cx="3293766" cy="3657600"/>
            <a:chOff x="0" y="0"/>
            <a:chExt cx="867494" cy="963319"/>
          </a:xfrm>
        </p:grpSpPr>
        <p:sp>
          <p:nvSpPr>
            <p:cNvPr name="Freeform 12" id="12"/>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3" id="13"/>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4" id="14"/>
          <p:cNvGrpSpPr/>
          <p:nvPr/>
        </p:nvGrpSpPr>
        <p:grpSpPr>
          <a:xfrm rot="0">
            <a:off x="7933825" y="5688310"/>
            <a:ext cx="9696181" cy="3914463"/>
            <a:chOff x="0" y="0"/>
            <a:chExt cx="2225174" cy="898329"/>
          </a:xfrm>
        </p:grpSpPr>
        <p:sp>
          <p:nvSpPr>
            <p:cNvPr name="Freeform 15" id="15"/>
            <p:cNvSpPr/>
            <p:nvPr/>
          </p:nvSpPr>
          <p:spPr>
            <a:xfrm flipH="false" flipV="false" rot="0">
              <a:off x="0" y="0"/>
              <a:ext cx="2225174" cy="898329"/>
            </a:xfrm>
            <a:custGeom>
              <a:avLst/>
              <a:gdLst/>
              <a:ahLst/>
              <a:cxnLst/>
              <a:rect r="r" b="b" t="t" l="l"/>
              <a:pathLst>
                <a:path h="898329" w="2225174">
                  <a:moveTo>
                    <a:pt x="23155" y="0"/>
                  </a:moveTo>
                  <a:lnTo>
                    <a:pt x="2202019" y="0"/>
                  </a:lnTo>
                  <a:cubicBezTo>
                    <a:pt x="2214807" y="0"/>
                    <a:pt x="2225174" y="10367"/>
                    <a:pt x="2225174" y="23155"/>
                  </a:cubicBezTo>
                  <a:lnTo>
                    <a:pt x="2225174" y="875174"/>
                  </a:lnTo>
                  <a:cubicBezTo>
                    <a:pt x="2225174" y="887962"/>
                    <a:pt x="2214807" y="898329"/>
                    <a:pt x="2202019" y="898329"/>
                  </a:cubicBezTo>
                  <a:lnTo>
                    <a:pt x="23155" y="898329"/>
                  </a:lnTo>
                  <a:cubicBezTo>
                    <a:pt x="10367" y="898329"/>
                    <a:pt x="0" y="887962"/>
                    <a:pt x="0" y="875174"/>
                  </a:cubicBezTo>
                  <a:lnTo>
                    <a:pt x="0" y="23155"/>
                  </a:lnTo>
                  <a:cubicBezTo>
                    <a:pt x="0" y="10367"/>
                    <a:pt x="10367" y="0"/>
                    <a:pt x="23155" y="0"/>
                  </a:cubicBezTo>
                  <a:close/>
                </a:path>
              </a:pathLst>
            </a:custGeom>
            <a:blipFill>
              <a:blip r:embed="rId2"/>
              <a:stretch>
                <a:fillRect l="0" t="-19356" r="0" b="-19356"/>
              </a:stretch>
            </a:blipFill>
          </p:spPr>
        </p:sp>
      </p:grpSp>
      <p:sp>
        <p:nvSpPr>
          <p:cNvPr name="TextBox 16" id="16"/>
          <p:cNvSpPr txBox="true"/>
          <p:nvPr/>
        </p:nvSpPr>
        <p:spPr>
          <a:xfrm rot="0">
            <a:off x="1795032" y="930452"/>
            <a:ext cx="190633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17" id="17"/>
          <p:cNvSpPr txBox="true"/>
          <p:nvPr/>
        </p:nvSpPr>
        <p:spPr>
          <a:xfrm rot="0">
            <a:off x="2583650" y="2845267"/>
            <a:ext cx="8454192" cy="756730"/>
          </a:xfrm>
          <a:prstGeom prst="rect">
            <a:avLst/>
          </a:prstGeom>
        </p:spPr>
        <p:txBody>
          <a:bodyPr anchor="t" rtlCol="false" tIns="0" lIns="0" bIns="0" rIns="0">
            <a:spAutoFit/>
          </a:bodyPr>
          <a:lstStyle/>
          <a:p>
            <a:pPr algn="l">
              <a:lnSpc>
                <a:spcPts val="5092"/>
              </a:lnSpc>
            </a:pPr>
            <a:r>
              <a:rPr lang="en-US" sz="4896" spc="-205" b="true">
                <a:solidFill>
                  <a:srgbClr val="FFFFFF"/>
                </a:solidFill>
                <a:latin typeface="Arial MT Pro Bold"/>
                <a:ea typeface="Arial MT Pro Bold"/>
                <a:cs typeface="Arial MT Pro Bold"/>
                <a:sym typeface="Arial MT Pro Bold"/>
              </a:rPr>
              <a:t>Mode View Controller (MVC)</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5250829"/>
            <a:ext cx="3293766" cy="3657600"/>
            <a:chOff x="0" y="0"/>
            <a:chExt cx="867494" cy="963319"/>
          </a:xfrm>
        </p:grpSpPr>
        <p:sp>
          <p:nvSpPr>
            <p:cNvPr name="Freeform 3" id="3"/>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4" id="4"/>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5" id="5"/>
          <p:cNvGrpSpPr/>
          <p:nvPr/>
        </p:nvGrpSpPr>
        <p:grpSpPr>
          <a:xfrm rot="0">
            <a:off x="2054482" y="2262850"/>
            <a:ext cx="10409926" cy="2638134"/>
            <a:chOff x="0" y="0"/>
            <a:chExt cx="2741709" cy="694817"/>
          </a:xfrm>
        </p:grpSpPr>
        <p:sp>
          <p:nvSpPr>
            <p:cNvPr name="Freeform 6" id="6"/>
            <p:cNvSpPr/>
            <p:nvPr/>
          </p:nvSpPr>
          <p:spPr>
            <a:xfrm flipH="false" flipV="false" rot="0">
              <a:off x="0" y="0"/>
              <a:ext cx="2741709" cy="694817"/>
            </a:xfrm>
            <a:custGeom>
              <a:avLst/>
              <a:gdLst/>
              <a:ahLst/>
              <a:cxnLst/>
              <a:rect r="r" b="b" t="t" l="l"/>
              <a:pathLst>
                <a:path h="694817" w="2741709">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2741709" cy="675767"/>
            </a:xfrm>
            <a:prstGeom prst="rect">
              <a:avLst/>
            </a:prstGeom>
          </p:spPr>
          <p:txBody>
            <a:bodyPr anchor="ctr" rtlCol="false" tIns="50800" lIns="50800" bIns="50800" rIns="50800"/>
            <a:lstStyle/>
            <a:p>
              <a:pPr algn="l">
                <a:lnSpc>
                  <a:spcPts val="1387"/>
                </a:lnSpc>
              </a:pPr>
            </a:p>
          </p:txBody>
        </p:sp>
      </p:grpSp>
      <p:grpSp>
        <p:nvGrpSpPr>
          <p:cNvPr name="Group 8" id="8"/>
          <p:cNvGrpSpPr/>
          <p:nvPr/>
        </p:nvGrpSpPr>
        <p:grpSpPr>
          <a:xfrm rot="0">
            <a:off x="5612562" y="5250829"/>
            <a:ext cx="3293766" cy="3657600"/>
            <a:chOff x="0" y="0"/>
            <a:chExt cx="867494" cy="963319"/>
          </a:xfrm>
        </p:grpSpPr>
        <p:sp>
          <p:nvSpPr>
            <p:cNvPr name="Freeform 9" id="9"/>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0" id="10"/>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1" id="11"/>
          <p:cNvGrpSpPr/>
          <p:nvPr/>
        </p:nvGrpSpPr>
        <p:grpSpPr>
          <a:xfrm rot="0">
            <a:off x="9170642" y="5250829"/>
            <a:ext cx="3293766" cy="3657600"/>
            <a:chOff x="0" y="0"/>
            <a:chExt cx="867494" cy="963319"/>
          </a:xfrm>
        </p:grpSpPr>
        <p:sp>
          <p:nvSpPr>
            <p:cNvPr name="Freeform 12" id="12"/>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3" id="13"/>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4" id="14"/>
          <p:cNvGrpSpPr/>
          <p:nvPr/>
        </p:nvGrpSpPr>
        <p:grpSpPr>
          <a:xfrm rot="0">
            <a:off x="7933825" y="5688310"/>
            <a:ext cx="9696181" cy="3914463"/>
            <a:chOff x="0" y="0"/>
            <a:chExt cx="2225174" cy="898329"/>
          </a:xfrm>
        </p:grpSpPr>
        <p:sp>
          <p:nvSpPr>
            <p:cNvPr name="Freeform 15" id="15"/>
            <p:cNvSpPr/>
            <p:nvPr/>
          </p:nvSpPr>
          <p:spPr>
            <a:xfrm flipH="false" flipV="false" rot="0">
              <a:off x="0" y="0"/>
              <a:ext cx="2225174" cy="898329"/>
            </a:xfrm>
            <a:custGeom>
              <a:avLst/>
              <a:gdLst/>
              <a:ahLst/>
              <a:cxnLst/>
              <a:rect r="r" b="b" t="t" l="l"/>
              <a:pathLst>
                <a:path h="898329" w="2225174">
                  <a:moveTo>
                    <a:pt x="23155" y="0"/>
                  </a:moveTo>
                  <a:lnTo>
                    <a:pt x="2202019" y="0"/>
                  </a:lnTo>
                  <a:cubicBezTo>
                    <a:pt x="2214807" y="0"/>
                    <a:pt x="2225174" y="10367"/>
                    <a:pt x="2225174" y="23155"/>
                  </a:cubicBezTo>
                  <a:lnTo>
                    <a:pt x="2225174" y="875174"/>
                  </a:lnTo>
                  <a:cubicBezTo>
                    <a:pt x="2225174" y="887962"/>
                    <a:pt x="2214807" y="898329"/>
                    <a:pt x="2202019" y="898329"/>
                  </a:cubicBezTo>
                  <a:lnTo>
                    <a:pt x="23155" y="898329"/>
                  </a:lnTo>
                  <a:cubicBezTo>
                    <a:pt x="10367" y="898329"/>
                    <a:pt x="0" y="887962"/>
                    <a:pt x="0" y="875174"/>
                  </a:cubicBezTo>
                  <a:lnTo>
                    <a:pt x="0" y="23155"/>
                  </a:lnTo>
                  <a:cubicBezTo>
                    <a:pt x="0" y="10367"/>
                    <a:pt x="10367" y="0"/>
                    <a:pt x="23155" y="0"/>
                  </a:cubicBezTo>
                  <a:close/>
                </a:path>
              </a:pathLst>
            </a:custGeom>
            <a:blipFill>
              <a:blip r:embed="rId2"/>
              <a:stretch>
                <a:fillRect l="0" t="-19356" r="0" b="-19356"/>
              </a:stretch>
            </a:blipFill>
          </p:spPr>
        </p:sp>
      </p:grpSp>
      <p:sp>
        <p:nvSpPr>
          <p:cNvPr name="TextBox 16" id="16"/>
          <p:cNvSpPr txBox="true"/>
          <p:nvPr/>
        </p:nvSpPr>
        <p:spPr>
          <a:xfrm rot="0">
            <a:off x="1795032" y="930452"/>
            <a:ext cx="190633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17" id="17"/>
          <p:cNvSpPr txBox="true"/>
          <p:nvPr/>
        </p:nvSpPr>
        <p:spPr>
          <a:xfrm rot="0">
            <a:off x="2583650" y="2845267"/>
            <a:ext cx="8454192" cy="756730"/>
          </a:xfrm>
          <a:prstGeom prst="rect">
            <a:avLst/>
          </a:prstGeom>
        </p:spPr>
        <p:txBody>
          <a:bodyPr anchor="t" rtlCol="false" tIns="0" lIns="0" bIns="0" rIns="0">
            <a:spAutoFit/>
          </a:bodyPr>
          <a:lstStyle/>
          <a:p>
            <a:pPr algn="l">
              <a:lnSpc>
                <a:spcPts val="5092"/>
              </a:lnSpc>
            </a:pPr>
            <a:r>
              <a:rPr lang="en-US" sz="4896" spc="-205" b="true">
                <a:solidFill>
                  <a:srgbClr val="FFFFFF"/>
                </a:solidFill>
                <a:latin typeface="Arial MT Pro Bold"/>
                <a:ea typeface="Arial MT Pro Bold"/>
                <a:cs typeface="Arial MT Pro Bold"/>
                <a:sym typeface="Arial MT Pro Bold"/>
              </a:rPr>
              <a:t>Mode View ViewModel (MVVM)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5250829"/>
            <a:ext cx="3293766" cy="3657600"/>
            <a:chOff x="0" y="0"/>
            <a:chExt cx="867494" cy="963319"/>
          </a:xfrm>
        </p:grpSpPr>
        <p:sp>
          <p:nvSpPr>
            <p:cNvPr name="Freeform 3" id="3"/>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4" id="4"/>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5" id="5"/>
          <p:cNvGrpSpPr/>
          <p:nvPr/>
        </p:nvGrpSpPr>
        <p:grpSpPr>
          <a:xfrm rot="0">
            <a:off x="2054482" y="2262850"/>
            <a:ext cx="10409926" cy="2638134"/>
            <a:chOff x="0" y="0"/>
            <a:chExt cx="2741709" cy="694817"/>
          </a:xfrm>
        </p:grpSpPr>
        <p:sp>
          <p:nvSpPr>
            <p:cNvPr name="Freeform 6" id="6"/>
            <p:cNvSpPr/>
            <p:nvPr/>
          </p:nvSpPr>
          <p:spPr>
            <a:xfrm flipH="false" flipV="false" rot="0">
              <a:off x="0" y="0"/>
              <a:ext cx="2741709" cy="694817"/>
            </a:xfrm>
            <a:custGeom>
              <a:avLst/>
              <a:gdLst/>
              <a:ahLst/>
              <a:cxnLst/>
              <a:rect r="r" b="b" t="t" l="l"/>
              <a:pathLst>
                <a:path h="694817" w="2741709">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true">
              <a:gsLst>
                <a:gs pos="0">
                  <a:srgbClr val="0C4A5B">
                    <a:alpha val="100000"/>
                  </a:srgbClr>
                </a:gs>
                <a:gs pos="100000">
                  <a:srgbClr val="27DDDF">
                    <a:alpha val="100000"/>
                  </a:srgbClr>
                </a:gs>
              </a:gsLst>
              <a:lin ang="2700000"/>
            </a:gradFill>
          </p:spPr>
        </p:sp>
        <p:sp>
          <p:nvSpPr>
            <p:cNvPr name="TextBox 7" id="7"/>
            <p:cNvSpPr txBox="true"/>
            <p:nvPr/>
          </p:nvSpPr>
          <p:spPr>
            <a:xfrm>
              <a:off x="0" y="19050"/>
              <a:ext cx="2741709" cy="675767"/>
            </a:xfrm>
            <a:prstGeom prst="rect">
              <a:avLst/>
            </a:prstGeom>
          </p:spPr>
          <p:txBody>
            <a:bodyPr anchor="ctr" rtlCol="false" tIns="50800" lIns="50800" bIns="50800" rIns="50800"/>
            <a:lstStyle/>
            <a:p>
              <a:pPr algn="l">
                <a:lnSpc>
                  <a:spcPts val="1387"/>
                </a:lnSpc>
              </a:pPr>
            </a:p>
          </p:txBody>
        </p:sp>
      </p:grpSp>
      <p:grpSp>
        <p:nvGrpSpPr>
          <p:cNvPr name="Group 8" id="8"/>
          <p:cNvGrpSpPr/>
          <p:nvPr/>
        </p:nvGrpSpPr>
        <p:grpSpPr>
          <a:xfrm rot="0">
            <a:off x="5612562" y="5250829"/>
            <a:ext cx="3293766" cy="3657600"/>
            <a:chOff x="0" y="0"/>
            <a:chExt cx="867494" cy="963319"/>
          </a:xfrm>
        </p:grpSpPr>
        <p:sp>
          <p:nvSpPr>
            <p:cNvPr name="Freeform 9" id="9"/>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0" id="10"/>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1" id="11"/>
          <p:cNvGrpSpPr/>
          <p:nvPr/>
        </p:nvGrpSpPr>
        <p:grpSpPr>
          <a:xfrm rot="0">
            <a:off x="9170642" y="5250829"/>
            <a:ext cx="3293766" cy="3657600"/>
            <a:chOff x="0" y="0"/>
            <a:chExt cx="867494" cy="963319"/>
          </a:xfrm>
        </p:grpSpPr>
        <p:sp>
          <p:nvSpPr>
            <p:cNvPr name="Freeform 12" id="12"/>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3" id="13"/>
            <p:cNvSpPr txBox="true"/>
            <p:nvPr/>
          </p:nvSpPr>
          <p:spPr>
            <a:xfrm>
              <a:off x="0" y="19050"/>
              <a:ext cx="867494" cy="944269"/>
            </a:xfrm>
            <a:prstGeom prst="rect">
              <a:avLst/>
            </a:prstGeom>
          </p:spPr>
          <p:txBody>
            <a:bodyPr anchor="ctr" rtlCol="false" tIns="50800" lIns="50800" bIns="50800" rIns="50800"/>
            <a:lstStyle/>
            <a:p>
              <a:pPr algn="l">
                <a:lnSpc>
                  <a:spcPts val="1387"/>
                </a:lnSpc>
              </a:pPr>
            </a:p>
          </p:txBody>
        </p:sp>
      </p:grpSp>
      <p:grpSp>
        <p:nvGrpSpPr>
          <p:cNvPr name="Group 14" id="14"/>
          <p:cNvGrpSpPr/>
          <p:nvPr/>
        </p:nvGrpSpPr>
        <p:grpSpPr>
          <a:xfrm rot="0">
            <a:off x="7933825" y="5688310"/>
            <a:ext cx="9696181" cy="3914463"/>
            <a:chOff x="0" y="0"/>
            <a:chExt cx="2225174" cy="898329"/>
          </a:xfrm>
        </p:grpSpPr>
        <p:sp>
          <p:nvSpPr>
            <p:cNvPr name="Freeform 15" id="15"/>
            <p:cNvSpPr/>
            <p:nvPr/>
          </p:nvSpPr>
          <p:spPr>
            <a:xfrm flipH="false" flipV="false" rot="0">
              <a:off x="0" y="0"/>
              <a:ext cx="2225174" cy="898329"/>
            </a:xfrm>
            <a:custGeom>
              <a:avLst/>
              <a:gdLst/>
              <a:ahLst/>
              <a:cxnLst/>
              <a:rect r="r" b="b" t="t" l="l"/>
              <a:pathLst>
                <a:path h="898329" w="2225174">
                  <a:moveTo>
                    <a:pt x="23155" y="0"/>
                  </a:moveTo>
                  <a:lnTo>
                    <a:pt x="2202019" y="0"/>
                  </a:lnTo>
                  <a:cubicBezTo>
                    <a:pt x="2214807" y="0"/>
                    <a:pt x="2225174" y="10367"/>
                    <a:pt x="2225174" y="23155"/>
                  </a:cubicBezTo>
                  <a:lnTo>
                    <a:pt x="2225174" y="875174"/>
                  </a:lnTo>
                  <a:cubicBezTo>
                    <a:pt x="2225174" y="887962"/>
                    <a:pt x="2214807" y="898329"/>
                    <a:pt x="2202019" y="898329"/>
                  </a:cubicBezTo>
                  <a:lnTo>
                    <a:pt x="23155" y="898329"/>
                  </a:lnTo>
                  <a:cubicBezTo>
                    <a:pt x="10367" y="898329"/>
                    <a:pt x="0" y="887962"/>
                    <a:pt x="0" y="875174"/>
                  </a:cubicBezTo>
                  <a:lnTo>
                    <a:pt x="0" y="23155"/>
                  </a:lnTo>
                  <a:cubicBezTo>
                    <a:pt x="0" y="10367"/>
                    <a:pt x="10367" y="0"/>
                    <a:pt x="23155" y="0"/>
                  </a:cubicBezTo>
                  <a:close/>
                </a:path>
              </a:pathLst>
            </a:custGeom>
            <a:blipFill>
              <a:blip r:embed="rId2"/>
              <a:stretch>
                <a:fillRect l="0" t="-19356" r="0" b="-19356"/>
              </a:stretch>
            </a:blipFill>
          </p:spPr>
        </p:sp>
      </p:grpSp>
      <p:sp>
        <p:nvSpPr>
          <p:cNvPr name="TextBox 16" id="16"/>
          <p:cNvSpPr txBox="true"/>
          <p:nvPr/>
        </p:nvSpPr>
        <p:spPr>
          <a:xfrm rot="0">
            <a:off x="1795032" y="930452"/>
            <a:ext cx="1906333"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17" id="17"/>
          <p:cNvSpPr txBox="true"/>
          <p:nvPr/>
        </p:nvSpPr>
        <p:spPr>
          <a:xfrm rot="0">
            <a:off x="2583650" y="2845267"/>
            <a:ext cx="8454192" cy="756730"/>
          </a:xfrm>
          <a:prstGeom prst="rect">
            <a:avLst/>
          </a:prstGeom>
        </p:spPr>
        <p:txBody>
          <a:bodyPr anchor="t" rtlCol="false" tIns="0" lIns="0" bIns="0" rIns="0">
            <a:spAutoFit/>
          </a:bodyPr>
          <a:lstStyle/>
          <a:p>
            <a:pPr algn="l">
              <a:lnSpc>
                <a:spcPts val="5092"/>
              </a:lnSpc>
            </a:pPr>
            <a:r>
              <a:rPr lang="en-US" sz="4896" spc="-205" b="true">
                <a:solidFill>
                  <a:srgbClr val="FFFFFF"/>
                </a:solidFill>
                <a:latin typeface="Arial MT Pro Bold"/>
                <a:ea typeface="Arial MT Pro Bold"/>
                <a:cs typeface="Arial MT Pro Bold"/>
                <a:sym typeface="Arial MT Pro Bold"/>
              </a:rPr>
              <a:t>Viper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95032" y="930452"/>
            <a:ext cx="1754694"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4" id="4"/>
          <p:cNvSpPr txBox="true"/>
          <p:nvPr/>
        </p:nvSpPr>
        <p:spPr>
          <a:xfrm rot="0">
            <a:off x="4364800" y="2224750"/>
            <a:ext cx="9558399" cy="1505800"/>
          </a:xfrm>
          <a:prstGeom prst="rect">
            <a:avLst/>
          </a:prstGeom>
        </p:spPr>
        <p:txBody>
          <a:bodyPr anchor="t" rtlCol="false" tIns="0" lIns="0" bIns="0" rIns="0">
            <a:spAutoFit/>
          </a:bodyPr>
          <a:lstStyle/>
          <a:p>
            <a:pPr algn="ctr">
              <a:lnSpc>
                <a:spcPts val="10048"/>
              </a:lnSpc>
            </a:pPr>
            <a:r>
              <a:rPr lang="en-US" b="true" sz="9662" spc="-405">
                <a:solidFill>
                  <a:srgbClr val="FFFFFF"/>
                </a:solidFill>
                <a:latin typeface="Arial MT Pro Bold"/>
                <a:ea typeface="Arial MT Pro Bold"/>
                <a:cs typeface="Arial MT Pro Bold"/>
                <a:sym typeface="Arial MT Pro Bold"/>
              </a:rPr>
              <a:t>conclusion</a:t>
            </a:r>
          </a:p>
        </p:txBody>
      </p:sp>
      <p:grpSp>
        <p:nvGrpSpPr>
          <p:cNvPr name="Group 5" id="5"/>
          <p:cNvGrpSpPr/>
          <p:nvPr/>
        </p:nvGrpSpPr>
        <p:grpSpPr>
          <a:xfrm rot="-851681">
            <a:off x="808966" y="7541919"/>
            <a:ext cx="21825170" cy="18180272"/>
            <a:chOff x="0" y="0"/>
            <a:chExt cx="5748193" cy="4788220"/>
          </a:xfrm>
        </p:grpSpPr>
        <p:sp>
          <p:nvSpPr>
            <p:cNvPr name="Freeform 6" id="6"/>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7" id="7"/>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sp>
        <p:nvSpPr>
          <p:cNvPr name="TextBox 8" id="8"/>
          <p:cNvSpPr txBox="true"/>
          <p:nvPr/>
        </p:nvSpPr>
        <p:spPr>
          <a:xfrm rot="0">
            <a:off x="3549726" y="4096842"/>
            <a:ext cx="11188548" cy="3478700"/>
          </a:xfrm>
          <a:prstGeom prst="rect">
            <a:avLst/>
          </a:prstGeom>
        </p:spPr>
        <p:txBody>
          <a:bodyPr anchor="t" rtlCol="false" tIns="0" lIns="0" bIns="0" rIns="0">
            <a:spAutoFit/>
          </a:bodyPr>
          <a:lstStyle/>
          <a:p>
            <a:pPr algn="just" marL="491447" indent="-245724" lvl="1">
              <a:lnSpc>
                <a:spcPts val="3915"/>
              </a:lnSpc>
              <a:buFont typeface="Arial"/>
              <a:buChar char="•"/>
            </a:pPr>
            <a:r>
              <a:rPr lang="en-US" sz="2276">
                <a:solidFill>
                  <a:srgbClr val="FFFFFF"/>
                </a:solidFill>
                <a:latin typeface="Arial MT Pro"/>
                <a:ea typeface="Arial MT Pro"/>
                <a:cs typeface="Arial MT Pro"/>
                <a:sym typeface="Arial MT Pro"/>
              </a:rPr>
              <a:t>Mobile application development involves multiple approaches and technologies</a:t>
            </a:r>
          </a:p>
          <a:p>
            <a:pPr algn="just" marL="491447" indent="-245724" lvl="1">
              <a:lnSpc>
                <a:spcPts val="3915"/>
              </a:lnSpc>
              <a:buFont typeface="Arial"/>
              <a:buChar char="•"/>
            </a:pPr>
            <a:r>
              <a:rPr lang="en-US" sz="2276">
                <a:solidFill>
                  <a:srgbClr val="FFFFFF"/>
                </a:solidFill>
                <a:latin typeface="Arial MT Pro"/>
                <a:ea typeface="Arial MT Pro"/>
                <a:cs typeface="Arial MT Pro"/>
                <a:sym typeface="Arial MT Pro"/>
              </a:rPr>
              <a:t>Each option (Native, PWA, Hybrid) has its own advantages and limitations</a:t>
            </a:r>
          </a:p>
          <a:p>
            <a:pPr algn="just" marL="491447" indent="-245724" lvl="1">
              <a:lnSpc>
                <a:spcPts val="3915"/>
              </a:lnSpc>
              <a:buFont typeface="Arial"/>
              <a:buChar char="•"/>
            </a:pPr>
            <a:r>
              <a:rPr lang="en-US" sz="2276">
                <a:solidFill>
                  <a:srgbClr val="FFFFFF"/>
                </a:solidFill>
                <a:latin typeface="Arial MT Pro"/>
                <a:ea typeface="Arial MT Pro"/>
                <a:cs typeface="Arial MT Pro"/>
                <a:sym typeface="Arial MT Pro"/>
              </a:rPr>
              <a:t>Choosing the right programming language and framework is</a:t>
            </a:r>
            <a:r>
              <a:rPr lang="en-US" sz="2276">
                <a:solidFill>
                  <a:srgbClr val="FFFFFF"/>
                </a:solidFill>
                <a:latin typeface="Arial MT Pro"/>
                <a:ea typeface="Arial MT Pro"/>
                <a:cs typeface="Arial MT Pro"/>
                <a:sym typeface="Arial MT Pro"/>
              </a:rPr>
              <a:t> crucial</a:t>
            </a:r>
          </a:p>
          <a:p>
            <a:pPr algn="just" marL="491447" indent="-245724" lvl="1">
              <a:lnSpc>
                <a:spcPts val="3915"/>
              </a:lnSpc>
              <a:buFont typeface="Arial"/>
              <a:buChar char="•"/>
            </a:pPr>
            <a:r>
              <a:rPr lang="en-US" sz="2276">
                <a:solidFill>
                  <a:srgbClr val="FFFFFF"/>
                </a:solidFill>
                <a:latin typeface="Arial MT Pro"/>
                <a:ea typeface="Arial MT Pro"/>
                <a:cs typeface="Arial MT Pro"/>
                <a:sym typeface="Arial MT Pro"/>
              </a:rPr>
              <a:t>Software architectures (MVC, MVVM, VIPER) help structure applications efficiently</a:t>
            </a:r>
          </a:p>
          <a:p>
            <a:pPr algn="just" marL="491447" indent="-245724" lvl="1">
              <a:lnSpc>
                <a:spcPts val="3915"/>
              </a:lnSpc>
              <a:buFont typeface="Arial"/>
              <a:buChar char="•"/>
            </a:pPr>
            <a:r>
              <a:rPr lang="en-US" sz="2276">
                <a:solidFill>
                  <a:srgbClr val="FFFFFF"/>
                </a:solidFill>
                <a:latin typeface="Arial MT Pro"/>
                <a:ea typeface="Arial MT Pro"/>
                <a:cs typeface="Arial MT Pro"/>
                <a:sym typeface="Arial MT Pro"/>
              </a:rPr>
              <a:t>Applying the right design patterns and development process ensures quality</a:t>
            </a:r>
          </a:p>
          <a:p>
            <a:pPr algn="just" marL="491447" indent="-245724" lvl="1">
              <a:lnSpc>
                <a:spcPts val="3915"/>
              </a:lnSpc>
              <a:buFont typeface="Arial"/>
              <a:buChar char="•"/>
            </a:pPr>
            <a:r>
              <a:rPr lang="en-US" sz="2276">
                <a:solidFill>
                  <a:srgbClr val="FFFFFF"/>
                </a:solidFill>
                <a:latin typeface="Arial MT Pro"/>
                <a:ea typeface="Arial MT Pro"/>
                <a:cs typeface="Arial MT Pro"/>
                <a:sym typeface="Arial MT Pro"/>
              </a:rPr>
              <a:t>Ultimately, success depends on balancing performance, cost, and user experience</a:t>
            </a:r>
          </a:p>
          <a:p>
            <a:pPr algn="just">
              <a:lnSpc>
                <a:spcPts val="3915"/>
              </a:lnSpc>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141519"/>
        </a:solidFill>
      </p:bgPr>
    </p:bg>
    <p:spTree>
      <p:nvGrpSpPr>
        <p:cNvPr id="1" name=""/>
        <p:cNvGrpSpPr/>
        <p:nvPr/>
      </p:nvGrpSpPr>
      <p:grpSpPr>
        <a:xfrm>
          <a:off x="0" y="0"/>
          <a:ext cx="0" cy="0"/>
          <a:chOff x="0" y="0"/>
          <a:chExt cx="0" cy="0"/>
        </a:xfrm>
      </p:grpSpPr>
      <p:sp>
        <p:nvSpPr>
          <p:cNvPr name="TextBox 2" id="2"/>
          <p:cNvSpPr txBox="true"/>
          <p:nvPr/>
        </p:nvSpPr>
        <p:spPr>
          <a:xfrm rot="0">
            <a:off x="12249562" y="8805853"/>
            <a:ext cx="2052548" cy="255661"/>
          </a:xfrm>
          <a:prstGeom prst="rect">
            <a:avLst/>
          </a:prstGeom>
        </p:spPr>
        <p:txBody>
          <a:bodyPr anchor="t" rtlCol="false" tIns="0" lIns="0" bIns="0" rIns="0">
            <a:spAutoFit/>
          </a:bodyPr>
          <a:lstStyle/>
          <a:p>
            <a:pPr algn="l">
              <a:lnSpc>
                <a:spcPts val="1617"/>
              </a:lnSpc>
            </a:pPr>
            <a:r>
              <a:rPr lang="en-US" sz="1837">
                <a:solidFill>
                  <a:srgbClr val="FFFFFF"/>
                </a:solidFill>
                <a:latin typeface="Arial MT Pro"/>
                <a:ea typeface="Arial MT Pro"/>
                <a:cs typeface="Arial MT Pro"/>
                <a:sym typeface="Arial MT Pro"/>
              </a:rPr>
              <a:t>@reallygreatsite</a:t>
            </a:r>
          </a:p>
        </p:txBody>
      </p:sp>
      <p:sp>
        <p:nvSpPr>
          <p:cNvPr name="TextBox 3" id="3"/>
          <p:cNvSpPr txBox="true"/>
          <p:nvPr/>
        </p:nvSpPr>
        <p:spPr>
          <a:xfrm rot="0">
            <a:off x="1795032" y="930452"/>
            <a:ext cx="1691235"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MT Pro Bold"/>
                <a:ea typeface="Arial MT Pro Bold"/>
                <a:cs typeface="Arial MT Pro Bold"/>
                <a:sym typeface="Arial MT Pro Bold"/>
              </a:rPr>
              <a:t>Group 17</a:t>
            </a:r>
          </a:p>
        </p:txBody>
      </p:sp>
      <p:sp>
        <p:nvSpPr>
          <p:cNvPr name="TextBox 4" id="4"/>
          <p:cNvSpPr txBox="true"/>
          <p:nvPr/>
        </p:nvSpPr>
        <p:spPr>
          <a:xfrm rot="0">
            <a:off x="2080871" y="4001801"/>
            <a:ext cx="14126257" cy="2226248"/>
          </a:xfrm>
          <a:prstGeom prst="rect">
            <a:avLst/>
          </a:prstGeom>
        </p:spPr>
        <p:txBody>
          <a:bodyPr anchor="t" rtlCol="false" tIns="0" lIns="0" bIns="0" rIns="0">
            <a:spAutoFit/>
          </a:bodyPr>
          <a:lstStyle/>
          <a:p>
            <a:pPr algn="ctr">
              <a:lnSpc>
                <a:spcPts val="14851"/>
              </a:lnSpc>
            </a:pPr>
            <a:r>
              <a:rPr lang="en-US" b="true" sz="14279" spc="-599">
                <a:solidFill>
                  <a:srgbClr val="FFFFFF"/>
                </a:solidFill>
                <a:latin typeface="Arial MT Pro Bold"/>
                <a:ea typeface="Arial MT Pro Bold"/>
                <a:cs typeface="Arial MT Pro Bold"/>
                <a:sym typeface="Arial MT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DAHGKitd9Hc</dc:identifier>
  <dcterms:modified xsi:type="dcterms:W3CDTF">2011-08-01T06:04:30Z</dcterms:modified>
  <cp:revision>1</cp:revision>
  <dc:title>CEF44 TASK1</dc:title>
</cp:coreProperties>
</file>